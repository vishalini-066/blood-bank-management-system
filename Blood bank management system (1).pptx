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61" r:id="rId5"/>
    <p:sldId id="262" r:id="rId6"/>
    <p:sldId id="267" r:id="rId7"/>
    <p:sldId id="264" r:id="rId8"/>
    <p:sldId id="268"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55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585C1D-6739-7C4C-A008-7F616A22F1DC}" type="datetimeFigureOut">
              <a:rPr lang="en-US" smtClean="0"/>
              <a:t>7/3/2026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171D8E-88EF-4147-9E91-E7F2AC3F28D2}" type="slidenum">
              <a:rPr lang="en-US" smtClean="0"/>
              <a:t>‹#›</a:t>
            </a:fld>
            <a:endParaRPr lang="en-US"/>
          </a:p>
        </p:txBody>
      </p:sp>
    </p:spTree>
    <p:extLst>
      <p:ext uri="{BB962C8B-B14F-4D97-AF65-F5344CB8AC3E}">
        <p14:creationId xmlns:p14="http://schemas.microsoft.com/office/powerpoint/2010/main" val="4057379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445D7-AE17-73D0-7F8E-D636E14191F5}"/>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65044FD3-3263-4503-0D80-68F97B26D94E}"/>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5EDDA31-1E2F-442C-3065-0F4BD386F35A}"/>
              </a:ext>
            </a:extLst>
          </p:cNvPr>
          <p:cNvSpPr>
            <a:spLocks noGrp="1"/>
          </p:cNvSpPr>
          <p:nvPr>
            <p:ph type="dt" sz="half" idx="10"/>
          </p:nvPr>
        </p:nvSpPr>
        <p:spPr/>
        <p:txBody>
          <a:bodyPr/>
          <a:lstStyle/>
          <a:p>
            <a:fld id="{439230BC-EA22-E542-917D-DC328FA6ED50}" type="datetimeFigureOut">
              <a:rPr lang="en-US" smtClean="0"/>
              <a:t>7/3/2026</a:t>
            </a:fld>
            <a:endParaRPr lang="en-US"/>
          </a:p>
        </p:txBody>
      </p:sp>
      <p:sp>
        <p:nvSpPr>
          <p:cNvPr id="5" name="Footer Placeholder 4">
            <a:extLst>
              <a:ext uri="{FF2B5EF4-FFF2-40B4-BE49-F238E27FC236}">
                <a16:creationId xmlns:a16="http://schemas.microsoft.com/office/drawing/2014/main" id="{6A9EFF5B-03EA-EC5A-512C-52BA735A7F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BA4FC3-1091-24EE-9FE5-92BF7C388B3B}"/>
              </a:ext>
            </a:extLst>
          </p:cNvPr>
          <p:cNvSpPr>
            <a:spLocks noGrp="1"/>
          </p:cNvSpPr>
          <p:nvPr>
            <p:ph type="sldNum" sz="quarter" idx="12"/>
          </p:nvPr>
        </p:nvSpPr>
        <p:spPr/>
        <p:txBody>
          <a:bodyPr/>
          <a:lstStyle/>
          <a:p>
            <a:fld id="{08E0127E-3C9D-9944-A979-87874F327123}" type="slidenum">
              <a:rPr lang="en-US" smtClean="0"/>
              <a:t>‹#›</a:t>
            </a:fld>
            <a:endParaRPr lang="en-US"/>
          </a:p>
        </p:txBody>
      </p:sp>
    </p:spTree>
    <p:extLst>
      <p:ext uri="{BB962C8B-B14F-4D97-AF65-F5344CB8AC3E}">
        <p14:creationId xmlns:p14="http://schemas.microsoft.com/office/powerpoint/2010/main" val="1695658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A06A0-8ADD-D046-11F3-72B5E6780B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00684C-E0A6-A97D-64E5-CC7578CF3C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88CFAE-6854-6F1B-CDCA-6CAAF6AC9736}"/>
              </a:ext>
            </a:extLst>
          </p:cNvPr>
          <p:cNvSpPr>
            <a:spLocks noGrp="1"/>
          </p:cNvSpPr>
          <p:nvPr>
            <p:ph type="dt" sz="half" idx="10"/>
          </p:nvPr>
        </p:nvSpPr>
        <p:spPr/>
        <p:txBody>
          <a:bodyPr/>
          <a:lstStyle/>
          <a:p>
            <a:fld id="{439230BC-EA22-E542-917D-DC328FA6ED50}" type="datetimeFigureOut">
              <a:rPr lang="en-US" smtClean="0"/>
              <a:t>7/3/2026</a:t>
            </a:fld>
            <a:endParaRPr lang="en-US"/>
          </a:p>
        </p:txBody>
      </p:sp>
      <p:sp>
        <p:nvSpPr>
          <p:cNvPr id="5" name="Footer Placeholder 4">
            <a:extLst>
              <a:ext uri="{FF2B5EF4-FFF2-40B4-BE49-F238E27FC236}">
                <a16:creationId xmlns:a16="http://schemas.microsoft.com/office/drawing/2014/main" id="{45D6E6BB-2712-B017-9833-E3BA4A460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886B41-3296-8F16-8F73-06C5540F204C}"/>
              </a:ext>
            </a:extLst>
          </p:cNvPr>
          <p:cNvSpPr>
            <a:spLocks noGrp="1"/>
          </p:cNvSpPr>
          <p:nvPr>
            <p:ph type="sldNum" sz="quarter" idx="12"/>
          </p:nvPr>
        </p:nvSpPr>
        <p:spPr/>
        <p:txBody>
          <a:bodyPr/>
          <a:lstStyle/>
          <a:p>
            <a:fld id="{08E0127E-3C9D-9944-A979-87874F327123}" type="slidenum">
              <a:rPr lang="en-US" smtClean="0"/>
              <a:t>‹#›</a:t>
            </a:fld>
            <a:endParaRPr lang="en-US"/>
          </a:p>
        </p:txBody>
      </p:sp>
    </p:spTree>
    <p:extLst>
      <p:ext uri="{BB962C8B-B14F-4D97-AF65-F5344CB8AC3E}">
        <p14:creationId xmlns:p14="http://schemas.microsoft.com/office/powerpoint/2010/main" val="888951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93AC1-7DF7-8C55-4DA4-BDCD34458B0D}"/>
              </a:ext>
            </a:extLst>
          </p:cNvPr>
          <p:cNvSpPr>
            <a:spLocks noGrp="1"/>
          </p:cNvSpPr>
          <p:nvPr>
            <p:ph type="title"/>
          </p:nvPr>
        </p:nvSpPr>
        <p:spPr>
          <a:xfrm>
            <a:off x="831849" y="1709738"/>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4CB177C-54E9-AE95-190D-774A9F8A64CC}"/>
              </a:ext>
            </a:extLst>
          </p:cNvPr>
          <p:cNvSpPr>
            <a:spLocks noGrp="1"/>
          </p:cNvSpPr>
          <p:nvPr>
            <p:ph type="body" idx="1"/>
          </p:nvPr>
        </p:nvSpPr>
        <p:spPr>
          <a:xfrm>
            <a:off x="831849" y="4589465"/>
            <a:ext cx="105156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C8F677-7D02-229F-E8BB-27335D0C0E60}"/>
              </a:ext>
            </a:extLst>
          </p:cNvPr>
          <p:cNvSpPr>
            <a:spLocks noGrp="1"/>
          </p:cNvSpPr>
          <p:nvPr>
            <p:ph type="dt" sz="half" idx="10"/>
          </p:nvPr>
        </p:nvSpPr>
        <p:spPr/>
        <p:txBody>
          <a:bodyPr/>
          <a:lstStyle/>
          <a:p>
            <a:fld id="{439230BC-EA22-E542-917D-DC328FA6ED50}" type="datetimeFigureOut">
              <a:rPr lang="en-US" smtClean="0"/>
              <a:t>7/3/2026</a:t>
            </a:fld>
            <a:endParaRPr lang="en-US"/>
          </a:p>
        </p:txBody>
      </p:sp>
      <p:sp>
        <p:nvSpPr>
          <p:cNvPr id="5" name="Footer Placeholder 4">
            <a:extLst>
              <a:ext uri="{FF2B5EF4-FFF2-40B4-BE49-F238E27FC236}">
                <a16:creationId xmlns:a16="http://schemas.microsoft.com/office/drawing/2014/main" id="{16A12D0F-734B-26A6-F33E-8871F2BD0F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D61E87-6B3B-EBD3-1DB9-D99DDC514D56}"/>
              </a:ext>
            </a:extLst>
          </p:cNvPr>
          <p:cNvSpPr>
            <a:spLocks noGrp="1"/>
          </p:cNvSpPr>
          <p:nvPr>
            <p:ph type="sldNum" sz="quarter" idx="12"/>
          </p:nvPr>
        </p:nvSpPr>
        <p:spPr/>
        <p:txBody>
          <a:bodyPr/>
          <a:lstStyle/>
          <a:p>
            <a:fld id="{08E0127E-3C9D-9944-A979-87874F327123}" type="slidenum">
              <a:rPr lang="en-US" smtClean="0"/>
              <a:t>‹#›</a:t>
            </a:fld>
            <a:endParaRPr lang="en-US"/>
          </a:p>
        </p:txBody>
      </p:sp>
    </p:spTree>
    <p:extLst>
      <p:ext uri="{BB962C8B-B14F-4D97-AF65-F5344CB8AC3E}">
        <p14:creationId xmlns:p14="http://schemas.microsoft.com/office/powerpoint/2010/main" val="1319481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82062-082F-DD28-49E6-0D39EE753F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99F30F-C94E-84D9-F348-D911C6886D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7AF96A-442C-8D67-D2D0-ED7AA52552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44221C-7F3C-1C9A-26F4-7804EDDAEF08}"/>
              </a:ext>
            </a:extLst>
          </p:cNvPr>
          <p:cNvSpPr>
            <a:spLocks noGrp="1"/>
          </p:cNvSpPr>
          <p:nvPr>
            <p:ph type="dt" sz="half" idx="10"/>
          </p:nvPr>
        </p:nvSpPr>
        <p:spPr/>
        <p:txBody>
          <a:bodyPr/>
          <a:lstStyle/>
          <a:p>
            <a:fld id="{439230BC-EA22-E542-917D-DC328FA6ED50}" type="datetimeFigureOut">
              <a:rPr lang="en-US" smtClean="0"/>
              <a:t>7/3/2026</a:t>
            </a:fld>
            <a:endParaRPr lang="en-US"/>
          </a:p>
        </p:txBody>
      </p:sp>
      <p:sp>
        <p:nvSpPr>
          <p:cNvPr id="6" name="Footer Placeholder 5">
            <a:extLst>
              <a:ext uri="{FF2B5EF4-FFF2-40B4-BE49-F238E27FC236}">
                <a16:creationId xmlns:a16="http://schemas.microsoft.com/office/drawing/2014/main" id="{B53A4E1E-D122-2D57-F5EA-4E3B3C38D0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6A1B7F-3311-9EBA-3E9C-4026AEFC60A5}"/>
              </a:ext>
            </a:extLst>
          </p:cNvPr>
          <p:cNvSpPr>
            <a:spLocks noGrp="1"/>
          </p:cNvSpPr>
          <p:nvPr>
            <p:ph type="sldNum" sz="quarter" idx="12"/>
          </p:nvPr>
        </p:nvSpPr>
        <p:spPr/>
        <p:txBody>
          <a:bodyPr/>
          <a:lstStyle/>
          <a:p>
            <a:fld id="{08E0127E-3C9D-9944-A979-87874F327123}" type="slidenum">
              <a:rPr lang="en-US" smtClean="0"/>
              <a:t>‹#›</a:t>
            </a:fld>
            <a:endParaRPr lang="en-US"/>
          </a:p>
        </p:txBody>
      </p:sp>
    </p:spTree>
    <p:extLst>
      <p:ext uri="{BB962C8B-B14F-4D97-AF65-F5344CB8AC3E}">
        <p14:creationId xmlns:p14="http://schemas.microsoft.com/office/powerpoint/2010/main" val="2512053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91F88-CE7F-9425-465C-8AEAC27AE69E}"/>
              </a:ext>
            </a:extLst>
          </p:cNvPr>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3775DC-2A19-06F3-1AC3-74418170EC3D}"/>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B1FC935-E1EC-EF7D-DD0B-3AFFDCE55FCB}"/>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E2D857-4395-C983-67F4-21895D822C39}"/>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7BE93DD-857D-AD42-49AE-1FFE8341BD9A}"/>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E96D3B-ED11-0381-5D0D-2B5753ADFAEE}"/>
              </a:ext>
            </a:extLst>
          </p:cNvPr>
          <p:cNvSpPr>
            <a:spLocks noGrp="1"/>
          </p:cNvSpPr>
          <p:nvPr>
            <p:ph type="dt" sz="half" idx="10"/>
          </p:nvPr>
        </p:nvSpPr>
        <p:spPr/>
        <p:txBody>
          <a:bodyPr/>
          <a:lstStyle/>
          <a:p>
            <a:fld id="{439230BC-EA22-E542-917D-DC328FA6ED50}" type="datetimeFigureOut">
              <a:rPr lang="en-US" smtClean="0"/>
              <a:t>7/3/2026</a:t>
            </a:fld>
            <a:endParaRPr lang="en-US"/>
          </a:p>
        </p:txBody>
      </p:sp>
      <p:sp>
        <p:nvSpPr>
          <p:cNvPr id="8" name="Footer Placeholder 7">
            <a:extLst>
              <a:ext uri="{FF2B5EF4-FFF2-40B4-BE49-F238E27FC236}">
                <a16:creationId xmlns:a16="http://schemas.microsoft.com/office/drawing/2014/main" id="{271A6C28-FB7C-51EB-2567-31EA31A10F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B03E4B-349B-C1DD-3F89-00ABF9EEC92C}"/>
              </a:ext>
            </a:extLst>
          </p:cNvPr>
          <p:cNvSpPr>
            <a:spLocks noGrp="1"/>
          </p:cNvSpPr>
          <p:nvPr>
            <p:ph type="sldNum" sz="quarter" idx="12"/>
          </p:nvPr>
        </p:nvSpPr>
        <p:spPr/>
        <p:txBody>
          <a:bodyPr/>
          <a:lstStyle/>
          <a:p>
            <a:fld id="{08E0127E-3C9D-9944-A979-87874F327123}" type="slidenum">
              <a:rPr lang="en-US" smtClean="0"/>
              <a:t>‹#›</a:t>
            </a:fld>
            <a:endParaRPr lang="en-US"/>
          </a:p>
        </p:txBody>
      </p:sp>
    </p:spTree>
    <p:extLst>
      <p:ext uri="{BB962C8B-B14F-4D97-AF65-F5344CB8AC3E}">
        <p14:creationId xmlns:p14="http://schemas.microsoft.com/office/powerpoint/2010/main" val="3341976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2E935-6AF5-9E9A-1CF7-9913433AF0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CE77BC-F66D-4B39-806E-DB740B522D84}"/>
              </a:ext>
            </a:extLst>
          </p:cNvPr>
          <p:cNvSpPr>
            <a:spLocks noGrp="1"/>
          </p:cNvSpPr>
          <p:nvPr>
            <p:ph type="dt" sz="half" idx="10"/>
          </p:nvPr>
        </p:nvSpPr>
        <p:spPr/>
        <p:txBody>
          <a:bodyPr/>
          <a:lstStyle/>
          <a:p>
            <a:fld id="{439230BC-EA22-E542-917D-DC328FA6ED50}" type="datetimeFigureOut">
              <a:rPr lang="en-US" smtClean="0"/>
              <a:t>7/3/2026</a:t>
            </a:fld>
            <a:endParaRPr lang="en-US"/>
          </a:p>
        </p:txBody>
      </p:sp>
      <p:sp>
        <p:nvSpPr>
          <p:cNvPr id="4" name="Footer Placeholder 3">
            <a:extLst>
              <a:ext uri="{FF2B5EF4-FFF2-40B4-BE49-F238E27FC236}">
                <a16:creationId xmlns:a16="http://schemas.microsoft.com/office/drawing/2014/main" id="{54DEDD45-70DA-F719-7ECF-F088ECE7E6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07460F-29BF-4D6D-172A-408ECEF5E23C}"/>
              </a:ext>
            </a:extLst>
          </p:cNvPr>
          <p:cNvSpPr>
            <a:spLocks noGrp="1"/>
          </p:cNvSpPr>
          <p:nvPr>
            <p:ph type="sldNum" sz="quarter" idx="12"/>
          </p:nvPr>
        </p:nvSpPr>
        <p:spPr/>
        <p:txBody>
          <a:bodyPr/>
          <a:lstStyle/>
          <a:p>
            <a:fld id="{08E0127E-3C9D-9944-A979-87874F327123}" type="slidenum">
              <a:rPr lang="en-US" smtClean="0"/>
              <a:t>‹#›</a:t>
            </a:fld>
            <a:endParaRPr lang="en-US"/>
          </a:p>
        </p:txBody>
      </p:sp>
    </p:spTree>
    <p:extLst>
      <p:ext uri="{BB962C8B-B14F-4D97-AF65-F5344CB8AC3E}">
        <p14:creationId xmlns:p14="http://schemas.microsoft.com/office/powerpoint/2010/main" val="2678145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72AFB1-C978-BC66-AB88-1D86B6FF9F19}"/>
              </a:ext>
            </a:extLst>
          </p:cNvPr>
          <p:cNvSpPr>
            <a:spLocks noGrp="1"/>
          </p:cNvSpPr>
          <p:nvPr>
            <p:ph type="dt" sz="half" idx="10"/>
          </p:nvPr>
        </p:nvSpPr>
        <p:spPr/>
        <p:txBody>
          <a:bodyPr/>
          <a:lstStyle/>
          <a:p>
            <a:fld id="{439230BC-EA22-E542-917D-DC328FA6ED50}" type="datetimeFigureOut">
              <a:rPr lang="en-US" smtClean="0"/>
              <a:t>7/3/2026</a:t>
            </a:fld>
            <a:endParaRPr lang="en-US"/>
          </a:p>
        </p:txBody>
      </p:sp>
      <p:sp>
        <p:nvSpPr>
          <p:cNvPr id="3" name="Footer Placeholder 2">
            <a:extLst>
              <a:ext uri="{FF2B5EF4-FFF2-40B4-BE49-F238E27FC236}">
                <a16:creationId xmlns:a16="http://schemas.microsoft.com/office/drawing/2014/main" id="{396BF521-1892-CB50-80F1-1EA4A30D6C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AF0BB3-0F56-1914-6B5C-225D6C6379D3}"/>
              </a:ext>
            </a:extLst>
          </p:cNvPr>
          <p:cNvSpPr>
            <a:spLocks noGrp="1"/>
          </p:cNvSpPr>
          <p:nvPr>
            <p:ph type="sldNum" sz="quarter" idx="12"/>
          </p:nvPr>
        </p:nvSpPr>
        <p:spPr/>
        <p:txBody>
          <a:bodyPr/>
          <a:lstStyle/>
          <a:p>
            <a:fld id="{08E0127E-3C9D-9944-A979-87874F327123}" type="slidenum">
              <a:rPr lang="en-US" smtClean="0"/>
              <a:t>‹#›</a:t>
            </a:fld>
            <a:endParaRPr lang="en-US"/>
          </a:p>
        </p:txBody>
      </p:sp>
    </p:spTree>
    <p:extLst>
      <p:ext uri="{BB962C8B-B14F-4D97-AF65-F5344CB8AC3E}">
        <p14:creationId xmlns:p14="http://schemas.microsoft.com/office/powerpoint/2010/main" val="1636579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4B6F4-5330-F1B7-F7D1-2E1AA5F1D27E}"/>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02143C7-8510-606E-2F76-7916685BEF25}"/>
              </a:ext>
            </a:extLst>
          </p:cNvPr>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158C71-0C30-1EE2-3968-945F28412447}"/>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2EAE8DE-9AB7-AE53-5924-F2B26CA701A5}"/>
              </a:ext>
            </a:extLst>
          </p:cNvPr>
          <p:cNvSpPr>
            <a:spLocks noGrp="1"/>
          </p:cNvSpPr>
          <p:nvPr>
            <p:ph type="dt" sz="half" idx="10"/>
          </p:nvPr>
        </p:nvSpPr>
        <p:spPr/>
        <p:txBody>
          <a:bodyPr/>
          <a:lstStyle/>
          <a:p>
            <a:fld id="{439230BC-EA22-E542-917D-DC328FA6ED50}" type="datetimeFigureOut">
              <a:rPr lang="en-US" smtClean="0"/>
              <a:t>7/3/2026</a:t>
            </a:fld>
            <a:endParaRPr lang="en-US"/>
          </a:p>
        </p:txBody>
      </p:sp>
      <p:sp>
        <p:nvSpPr>
          <p:cNvPr id="6" name="Footer Placeholder 5">
            <a:extLst>
              <a:ext uri="{FF2B5EF4-FFF2-40B4-BE49-F238E27FC236}">
                <a16:creationId xmlns:a16="http://schemas.microsoft.com/office/drawing/2014/main" id="{6E6D6D78-357F-3BA3-3893-9CB28D81A1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51922B-BFC4-5996-E291-F268748511EC}"/>
              </a:ext>
            </a:extLst>
          </p:cNvPr>
          <p:cNvSpPr>
            <a:spLocks noGrp="1"/>
          </p:cNvSpPr>
          <p:nvPr>
            <p:ph type="sldNum" sz="quarter" idx="12"/>
          </p:nvPr>
        </p:nvSpPr>
        <p:spPr/>
        <p:txBody>
          <a:bodyPr/>
          <a:lstStyle/>
          <a:p>
            <a:fld id="{08E0127E-3C9D-9944-A979-87874F327123}" type="slidenum">
              <a:rPr lang="en-US" smtClean="0"/>
              <a:t>‹#›</a:t>
            </a:fld>
            <a:endParaRPr lang="en-US"/>
          </a:p>
        </p:txBody>
      </p:sp>
    </p:spTree>
    <p:extLst>
      <p:ext uri="{BB962C8B-B14F-4D97-AF65-F5344CB8AC3E}">
        <p14:creationId xmlns:p14="http://schemas.microsoft.com/office/powerpoint/2010/main" val="999796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84B20-0F49-C9EF-8768-2CEE7AC2386A}"/>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0974DEF9-80FD-FA7A-3E72-E5D1CABEC609}"/>
              </a:ext>
            </a:extLst>
          </p:cNvPr>
          <p:cNvSpPr>
            <a:spLocks noGrp="1"/>
          </p:cNvSpPr>
          <p:nvPr>
            <p:ph type="pic" idx="1"/>
          </p:nvPr>
        </p:nvSpPr>
        <p:spPr>
          <a:xfrm>
            <a:off x="5183188" y="987426"/>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13A97F9D-8F4B-9A55-37B0-07D9BA4A8D01}"/>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5CE6AFB-8DF3-ED99-3E00-333FFE1698CA}"/>
              </a:ext>
            </a:extLst>
          </p:cNvPr>
          <p:cNvSpPr>
            <a:spLocks noGrp="1"/>
          </p:cNvSpPr>
          <p:nvPr>
            <p:ph type="dt" sz="half" idx="10"/>
          </p:nvPr>
        </p:nvSpPr>
        <p:spPr/>
        <p:txBody>
          <a:bodyPr/>
          <a:lstStyle/>
          <a:p>
            <a:fld id="{439230BC-EA22-E542-917D-DC328FA6ED50}" type="datetimeFigureOut">
              <a:rPr lang="en-US" smtClean="0"/>
              <a:t>7/3/2026</a:t>
            </a:fld>
            <a:endParaRPr lang="en-US"/>
          </a:p>
        </p:txBody>
      </p:sp>
      <p:sp>
        <p:nvSpPr>
          <p:cNvPr id="6" name="Footer Placeholder 5">
            <a:extLst>
              <a:ext uri="{FF2B5EF4-FFF2-40B4-BE49-F238E27FC236}">
                <a16:creationId xmlns:a16="http://schemas.microsoft.com/office/drawing/2014/main" id="{A9849B36-68CB-6829-95E6-45FD021A51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1A7B29-74DB-EC10-74AB-5E2BE5AADE9F}"/>
              </a:ext>
            </a:extLst>
          </p:cNvPr>
          <p:cNvSpPr>
            <a:spLocks noGrp="1"/>
          </p:cNvSpPr>
          <p:nvPr>
            <p:ph type="sldNum" sz="quarter" idx="12"/>
          </p:nvPr>
        </p:nvSpPr>
        <p:spPr/>
        <p:txBody>
          <a:bodyPr/>
          <a:lstStyle/>
          <a:p>
            <a:fld id="{08E0127E-3C9D-9944-A979-87874F327123}" type="slidenum">
              <a:rPr lang="en-US" smtClean="0"/>
              <a:t>‹#›</a:t>
            </a:fld>
            <a:endParaRPr lang="en-US"/>
          </a:p>
        </p:txBody>
      </p:sp>
    </p:spTree>
    <p:extLst>
      <p:ext uri="{BB962C8B-B14F-4D97-AF65-F5344CB8AC3E}">
        <p14:creationId xmlns:p14="http://schemas.microsoft.com/office/powerpoint/2010/main" val="1124772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FAE6-1730-683A-0D60-866338B730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D386C2-AC84-8592-527D-061D56FA89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1085B6-4778-CC64-33F2-5FB6B689636A}"/>
              </a:ext>
            </a:extLst>
          </p:cNvPr>
          <p:cNvSpPr>
            <a:spLocks noGrp="1"/>
          </p:cNvSpPr>
          <p:nvPr>
            <p:ph type="dt" sz="half" idx="10"/>
          </p:nvPr>
        </p:nvSpPr>
        <p:spPr/>
        <p:txBody>
          <a:bodyPr/>
          <a:lstStyle/>
          <a:p>
            <a:fld id="{439230BC-EA22-E542-917D-DC328FA6ED50}" type="datetimeFigureOut">
              <a:rPr lang="en-US" smtClean="0"/>
              <a:t>7/3/2026</a:t>
            </a:fld>
            <a:endParaRPr lang="en-US"/>
          </a:p>
        </p:txBody>
      </p:sp>
      <p:sp>
        <p:nvSpPr>
          <p:cNvPr id="5" name="Footer Placeholder 4">
            <a:extLst>
              <a:ext uri="{FF2B5EF4-FFF2-40B4-BE49-F238E27FC236}">
                <a16:creationId xmlns:a16="http://schemas.microsoft.com/office/drawing/2014/main" id="{A9C0BF1F-27FB-4B95-A8AB-59C9C3BE4D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5D9EB6-BBA8-E4DA-9E17-9099EE95CDDB}"/>
              </a:ext>
            </a:extLst>
          </p:cNvPr>
          <p:cNvSpPr>
            <a:spLocks noGrp="1"/>
          </p:cNvSpPr>
          <p:nvPr>
            <p:ph type="sldNum" sz="quarter" idx="12"/>
          </p:nvPr>
        </p:nvSpPr>
        <p:spPr/>
        <p:txBody>
          <a:bodyPr/>
          <a:lstStyle/>
          <a:p>
            <a:fld id="{08E0127E-3C9D-9944-A979-87874F327123}" type="slidenum">
              <a:rPr lang="en-US" smtClean="0"/>
              <a:t>‹#›</a:t>
            </a:fld>
            <a:endParaRPr lang="en-US"/>
          </a:p>
        </p:txBody>
      </p:sp>
    </p:spTree>
    <p:extLst>
      <p:ext uri="{BB962C8B-B14F-4D97-AF65-F5344CB8AC3E}">
        <p14:creationId xmlns:p14="http://schemas.microsoft.com/office/powerpoint/2010/main" val="3621676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71C65A-B209-97FA-41F4-344D9C56FF68}"/>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5DD3E7-6F3E-5C6E-E18B-DD07F3F33D4A}"/>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862020-8B1A-6796-54DC-B789A57BAB2A}"/>
              </a:ext>
            </a:extLst>
          </p:cNvPr>
          <p:cNvSpPr>
            <a:spLocks noGrp="1"/>
          </p:cNvSpPr>
          <p:nvPr>
            <p:ph type="dt" sz="half" idx="10"/>
          </p:nvPr>
        </p:nvSpPr>
        <p:spPr/>
        <p:txBody>
          <a:bodyPr/>
          <a:lstStyle/>
          <a:p>
            <a:fld id="{439230BC-EA22-E542-917D-DC328FA6ED50}" type="datetimeFigureOut">
              <a:rPr lang="en-US" smtClean="0"/>
              <a:t>7/3/2026</a:t>
            </a:fld>
            <a:endParaRPr lang="en-US"/>
          </a:p>
        </p:txBody>
      </p:sp>
      <p:sp>
        <p:nvSpPr>
          <p:cNvPr id="5" name="Footer Placeholder 4">
            <a:extLst>
              <a:ext uri="{FF2B5EF4-FFF2-40B4-BE49-F238E27FC236}">
                <a16:creationId xmlns:a16="http://schemas.microsoft.com/office/drawing/2014/main" id="{1397D853-2FC1-427C-EAA2-AFD4EDEAD9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F4B1DB-A5B9-7DB6-0154-D644505C90C7}"/>
              </a:ext>
            </a:extLst>
          </p:cNvPr>
          <p:cNvSpPr>
            <a:spLocks noGrp="1"/>
          </p:cNvSpPr>
          <p:nvPr>
            <p:ph type="sldNum" sz="quarter" idx="12"/>
          </p:nvPr>
        </p:nvSpPr>
        <p:spPr/>
        <p:txBody>
          <a:bodyPr/>
          <a:lstStyle/>
          <a:p>
            <a:fld id="{08E0127E-3C9D-9944-A979-87874F327123}" type="slidenum">
              <a:rPr lang="en-US" smtClean="0"/>
              <a:t>‹#›</a:t>
            </a:fld>
            <a:endParaRPr lang="en-US"/>
          </a:p>
        </p:txBody>
      </p:sp>
    </p:spTree>
    <p:extLst>
      <p:ext uri="{BB962C8B-B14F-4D97-AF65-F5344CB8AC3E}">
        <p14:creationId xmlns:p14="http://schemas.microsoft.com/office/powerpoint/2010/main" val="972034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4001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91E010-CC6C-97B9-60DE-A654203F77C9}"/>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936BE8-02C7-FAEC-721F-86724E267A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0E3E0C-451A-8EE0-D02E-F93281606A06}"/>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439230BC-EA22-E542-917D-DC328FA6ED50}" type="datetimeFigureOut">
              <a:rPr lang="en-US" smtClean="0"/>
              <a:t>7/3/2026</a:t>
            </a:fld>
            <a:endParaRPr lang="en-US"/>
          </a:p>
        </p:txBody>
      </p:sp>
      <p:sp>
        <p:nvSpPr>
          <p:cNvPr id="5" name="Footer Placeholder 4">
            <a:extLst>
              <a:ext uri="{FF2B5EF4-FFF2-40B4-BE49-F238E27FC236}">
                <a16:creationId xmlns:a16="http://schemas.microsoft.com/office/drawing/2014/main" id="{77FBD3A9-4863-FCBB-3355-F7727A01F5C3}"/>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9CD303-12D5-F331-BF4A-34BC12177A4B}"/>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08E0127E-3C9D-9944-A979-87874F327123}" type="slidenum">
              <a:rPr lang="en-US" smtClean="0"/>
              <a:t>‹#›</a:t>
            </a:fld>
            <a:endParaRPr lang="en-US"/>
          </a:p>
        </p:txBody>
      </p:sp>
    </p:spTree>
    <p:extLst>
      <p:ext uri="{BB962C8B-B14F-4D97-AF65-F5344CB8AC3E}">
        <p14:creationId xmlns:p14="http://schemas.microsoft.com/office/powerpoint/2010/main" val="3889081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D9C438-91A9-A0B3-9CEA-BCC4CD85AE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1997" cy="6858000"/>
          </a:xfrm>
          <a:prstGeom prst="rect">
            <a:avLst/>
          </a:prstGeom>
        </p:spPr>
      </p:pic>
      <p:sp>
        <p:nvSpPr>
          <p:cNvPr id="7" name="Title 6">
            <a:extLst>
              <a:ext uri="{FF2B5EF4-FFF2-40B4-BE49-F238E27FC236}">
                <a16:creationId xmlns:a16="http://schemas.microsoft.com/office/drawing/2014/main" id="{FE50F3A1-9BAD-8A3C-7CB0-314EAE24EF54}"/>
              </a:ext>
            </a:extLst>
          </p:cNvPr>
          <p:cNvSpPr>
            <a:spLocks noGrp="1"/>
          </p:cNvSpPr>
          <p:nvPr>
            <p:ph type="ctrTitle"/>
          </p:nvPr>
        </p:nvSpPr>
        <p:spPr>
          <a:xfrm>
            <a:off x="2308413" y="463103"/>
            <a:ext cx="6925235" cy="632012"/>
          </a:xfrm>
        </p:spPr>
        <p:txBody>
          <a:bodyPr>
            <a:normAutofit/>
          </a:bodyPr>
          <a:lstStyle/>
          <a:p>
            <a:r>
              <a:rPr lang="en-US" sz="2700" b="1" dirty="0">
                <a:solidFill>
                  <a:srgbClr val="FF0000"/>
                </a:solidFill>
                <a:latin typeface="Calibri" panose="020F0502020204030204" pitchFamily="34" charset="0"/>
              </a:rPr>
              <a:t>BLOOD BANK MANAGEMENT SYSTEM</a:t>
            </a:r>
            <a:r>
              <a:rPr lang="en-US" sz="2400" b="1" dirty="0">
                <a:solidFill>
                  <a:srgbClr val="FF0000"/>
                </a:solidFill>
                <a:latin typeface="Calibri" panose="020F0502020204030204" pitchFamily="34" charset="0"/>
              </a:rPr>
              <a:t> </a:t>
            </a:r>
          </a:p>
        </p:txBody>
      </p:sp>
      <p:sp>
        <p:nvSpPr>
          <p:cNvPr id="11" name="TextBox 10">
            <a:extLst>
              <a:ext uri="{FF2B5EF4-FFF2-40B4-BE49-F238E27FC236}">
                <a16:creationId xmlns:a16="http://schemas.microsoft.com/office/drawing/2014/main" id="{21671900-E868-2E36-56B3-2A9E310E620B}"/>
              </a:ext>
            </a:extLst>
          </p:cNvPr>
          <p:cNvSpPr txBox="1"/>
          <p:nvPr/>
        </p:nvSpPr>
        <p:spPr>
          <a:xfrm>
            <a:off x="6454588" y="1558218"/>
            <a:ext cx="5056094" cy="3046988"/>
          </a:xfrm>
          <a:prstGeom prst="rect">
            <a:avLst/>
          </a:prstGeom>
          <a:noFill/>
        </p:spPr>
        <p:txBody>
          <a:bodyPr wrap="square" rtlCol="0">
            <a:spAutoFit/>
          </a:bodyPr>
          <a:lstStyle/>
          <a:p>
            <a:pPr algn="l"/>
            <a:r>
              <a:rPr lang="en-US" sz="2400" b="1" dirty="0">
                <a:solidFill>
                  <a:srgbClr val="FF0000"/>
                </a:solidFill>
                <a:latin typeface="Calibri" panose="020F0502020204030204" pitchFamily="34" charset="0"/>
              </a:rPr>
              <a:t>Presented by</a:t>
            </a:r>
            <a:r>
              <a:rPr lang="en-US" sz="2400" b="1" dirty="0">
                <a:solidFill>
                  <a:srgbClr val="FF0000"/>
                </a:solidFill>
              </a:rPr>
              <a:t>:</a:t>
            </a:r>
          </a:p>
          <a:p>
            <a:pPr algn="l"/>
            <a:r>
              <a:rPr lang="en-US" dirty="0">
                <a:latin typeface="Calibri" panose="020F0502020204030204" pitchFamily="34" charset="0"/>
              </a:rPr>
              <a:t>         VISHALINI M</a:t>
            </a:r>
          </a:p>
          <a:p>
            <a:pPr algn="l"/>
            <a:r>
              <a:rPr lang="en-US" dirty="0">
                <a:latin typeface="Calibri" panose="020F0502020204030204" pitchFamily="34" charset="0"/>
              </a:rPr>
              <a:t>         NIVETHA S</a:t>
            </a:r>
          </a:p>
          <a:p>
            <a:pPr algn="l"/>
            <a:r>
              <a:rPr lang="en-US" dirty="0">
                <a:latin typeface="Calibri" panose="020F0502020204030204" pitchFamily="34" charset="0"/>
              </a:rPr>
              <a:t>         MAHALAKSHMI </a:t>
            </a:r>
            <a:r>
              <a:rPr lang="en-US" dirty="0" smtClean="0">
                <a:latin typeface="Calibri" panose="020F0502020204030204" pitchFamily="34" charset="0"/>
              </a:rPr>
              <a:t>M </a:t>
            </a:r>
            <a:endParaRPr lang="en-US" dirty="0">
              <a:latin typeface="Calibri" panose="020F0502020204030204" pitchFamily="34" charset="0"/>
            </a:endParaRPr>
          </a:p>
          <a:p>
            <a:pPr algn="l"/>
            <a:r>
              <a:rPr lang="en-US" sz="2400" b="1" dirty="0">
                <a:solidFill>
                  <a:srgbClr val="FF0000"/>
                </a:solidFill>
                <a:latin typeface="Calibri" panose="020F0502020204030204" pitchFamily="34" charset="0"/>
              </a:rPr>
              <a:t>Domain:</a:t>
            </a:r>
          </a:p>
          <a:p>
            <a:pPr algn="l"/>
            <a:r>
              <a:rPr lang="en-US" sz="2400" b="1" dirty="0"/>
              <a:t>     </a:t>
            </a:r>
            <a:r>
              <a:rPr lang="en-US" sz="2400" b="1" dirty="0">
                <a:latin typeface="Calibri" panose="020F0502020204030204" pitchFamily="34" charset="0"/>
              </a:rPr>
              <a:t>  </a:t>
            </a:r>
            <a:r>
              <a:rPr lang="en-US" dirty="0">
                <a:latin typeface="Calibri" panose="020F0502020204030204" pitchFamily="34" charset="0"/>
              </a:rPr>
              <a:t>HEALTH CARE </a:t>
            </a:r>
          </a:p>
          <a:p>
            <a:pPr algn="l"/>
            <a:r>
              <a:rPr lang="en-US" sz="2400" b="1" dirty="0">
                <a:solidFill>
                  <a:srgbClr val="FF0000"/>
                </a:solidFill>
                <a:latin typeface="Calibri" panose="020F0502020204030204" pitchFamily="34" charset="0"/>
              </a:rPr>
              <a:t>College</a:t>
            </a:r>
            <a:r>
              <a:rPr lang="en-US" sz="2400" b="1" dirty="0">
                <a:solidFill>
                  <a:srgbClr val="FF0000"/>
                </a:solidFill>
              </a:rPr>
              <a:t>:</a:t>
            </a:r>
          </a:p>
          <a:p>
            <a:pPr algn="l"/>
            <a:r>
              <a:rPr lang="en-US" sz="2400" b="1" dirty="0"/>
              <a:t>  </a:t>
            </a:r>
            <a:r>
              <a:rPr lang="en-US" sz="2400" b="1" dirty="0">
                <a:latin typeface="Calibri" panose="020F0502020204030204" pitchFamily="34" charset="0"/>
              </a:rPr>
              <a:t>      </a:t>
            </a:r>
            <a:r>
              <a:rPr lang="en-US" dirty="0">
                <a:latin typeface="Calibri" panose="020F0502020204030204" pitchFamily="34" charset="0"/>
              </a:rPr>
              <a:t>J.J COLLEGE OF ENGINEERING AND TECHNOLOGY </a:t>
            </a:r>
          </a:p>
        </p:txBody>
      </p:sp>
    </p:spTree>
    <p:extLst>
      <p:ext uri="{BB962C8B-B14F-4D97-AF65-F5344CB8AC3E}">
        <p14:creationId xmlns:p14="http://schemas.microsoft.com/office/powerpoint/2010/main" val="4539248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25599-1688-9581-F249-D73D3119B44C}"/>
              </a:ext>
            </a:extLst>
          </p:cNvPr>
          <p:cNvSpPr>
            <a:spLocks noGrp="1"/>
          </p:cNvSpPr>
          <p:nvPr>
            <p:ph type="title"/>
          </p:nvPr>
        </p:nvSpPr>
        <p:spPr>
          <a:xfrm>
            <a:off x="748553" y="189916"/>
            <a:ext cx="10515600" cy="1148037"/>
          </a:xfrm>
        </p:spPr>
        <p:txBody>
          <a:bodyPr>
            <a:normAutofit/>
          </a:bodyPr>
          <a:lstStyle/>
          <a:p>
            <a:r>
              <a:rPr lang="en-US" sz="3200" b="1" dirty="0">
                <a:latin typeface="Calibri" panose="020F0502020204030204" pitchFamily="34" charset="0"/>
                <a:cs typeface="Calibri" panose="020F0502020204030204" pitchFamily="34" charset="0"/>
              </a:rPr>
              <a:t>INTRODUCTION &amp; OBJECTIVE </a:t>
            </a:r>
          </a:p>
        </p:txBody>
      </p:sp>
      <p:sp>
        <p:nvSpPr>
          <p:cNvPr id="3" name="Content Placeholder 2">
            <a:extLst>
              <a:ext uri="{FF2B5EF4-FFF2-40B4-BE49-F238E27FC236}">
                <a16:creationId xmlns:a16="http://schemas.microsoft.com/office/drawing/2014/main" id="{322892AB-44B2-75CD-4A12-CD845F14571B}"/>
              </a:ext>
            </a:extLst>
          </p:cNvPr>
          <p:cNvSpPr>
            <a:spLocks noGrp="1"/>
          </p:cNvSpPr>
          <p:nvPr>
            <p:ph idx="1"/>
          </p:nvPr>
        </p:nvSpPr>
        <p:spPr>
          <a:xfrm>
            <a:off x="748553" y="1524660"/>
            <a:ext cx="7104529" cy="2451005"/>
          </a:xfrm>
        </p:spPr>
        <p:txBody>
          <a:bodyPr>
            <a:normAutofit/>
          </a:bodyPr>
          <a:lstStyle/>
          <a:p>
            <a:pPr marL="0" indent="0">
              <a:buNone/>
            </a:pPr>
            <a:r>
              <a:rPr lang="en-US" sz="2400" b="1" dirty="0">
                <a:solidFill>
                  <a:schemeClr val="accent2">
                    <a:lumMod val="75000"/>
                  </a:schemeClr>
                </a:solidFill>
                <a:latin typeface="Calibri" panose="020F0502020204030204" pitchFamily="34" charset="0"/>
              </a:rPr>
              <a:t>INTRODUCTION:</a:t>
            </a:r>
          </a:p>
          <a:p>
            <a:r>
              <a:rPr lang="en-US" sz="2000" dirty="0">
                <a:latin typeface="Calibri" panose="020F0502020204030204" pitchFamily="34" charset="0"/>
              </a:rPr>
              <a:t>Manual blood management is time-consuming and error-prone.
Difficulty in tracking donors and blood stock.
Delays in providing blood during emergencies.
A Blood Bank Management System automates these processes for faster and more efficient service.</a:t>
            </a:r>
          </a:p>
          <a:p>
            <a:pPr marL="0" indent="0">
              <a:buNone/>
            </a:pPr>
            <a:endParaRPr lang="en-US" sz="1800" dirty="0"/>
          </a:p>
        </p:txBody>
      </p:sp>
      <p:sp>
        <p:nvSpPr>
          <p:cNvPr id="6" name="TextBox 5">
            <a:extLst>
              <a:ext uri="{FF2B5EF4-FFF2-40B4-BE49-F238E27FC236}">
                <a16:creationId xmlns:a16="http://schemas.microsoft.com/office/drawing/2014/main" id="{3A1201F6-8642-7BE9-2812-0ABDD51D8D83}"/>
              </a:ext>
            </a:extLst>
          </p:cNvPr>
          <p:cNvSpPr txBox="1"/>
          <p:nvPr/>
        </p:nvSpPr>
        <p:spPr>
          <a:xfrm>
            <a:off x="748553" y="3975665"/>
            <a:ext cx="6871447" cy="169277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l"/>
            <a:r>
              <a:rPr lang="en-US" sz="2400" b="1" dirty="0">
                <a:solidFill>
                  <a:schemeClr val="accent2">
                    <a:lumMod val="75000"/>
                  </a:schemeClr>
                </a:solidFill>
                <a:latin typeface="Calibri" panose="020F0502020204030204" pitchFamily="34" charset="0"/>
              </a:rPr>
              <a:t>OBJECTIVE</a:t>
            </a:r>
            <a:r>
              <a:rPr lang="en-US" sz="2000" b="1" dirty="0">
                <a:solidFill>
                  <a:schemeClr val="accent2">
                    <a:lumMod val="75000"/>
                  </a:schemeClr>
                </a:solidFill>
                <a:latin typeface="Calibri" panose="020F0502020204030204" pitchFamily="34" charset="0"/>
              </a:rPr>
              <a:t>:</a:t>
            </a:r>
          </a:p>
          <a:p>
            <a:pPr algn="l"/>
            <a:r>
              <a:rPr lang="en-US" sz="2000" dirty="0">
                <a:solidFill>
                  <a:schemeClr val="tx1"/>
                </a:solidFill>
                <a:latin typeface="Calibri" panose="020F0502020204030204" pitchFamily="34" charset="0"/>
              </a:rPr>
              <a:t>        Develop a Python-based Blood Bank Management System that efficiently manages donor records, blood inventory, and blood requests while ensuring fast, accurate, and reliable blood distribution.</a:t>
            </a:r>
          </a:p>
        </p:txBody>
      </p:sp>
      <p:sp>
        <p:nvSpPr>
          <p:cNvPr id="11" name="TextBox 10">
            <a:extLst>
              <a:ext uri="{FF2B5EF4-FFF2-40B4-BE49-F238E27FC236}">
                <a16:creationId xmlns:a16="http://schemas.microsoft.com/office/drawing/2014/main" id="{9DBCB03A-BB61-9DFF-2116-A6D33E5A71FF}"/>
              </a:ext>
            </a:extLst>
          </p:cNvPr>
          <p:cNvSpPr txBox="1"/>
          <p:nvPr/>
        </p:nvSpPr>
        <p:spPr>
          <a:xfrm>
            <a:off x="7853082" y="1816565"/>
            <a:ext cx="4124270" cy="350865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lgn="l">
              <a:buFont typeface="Arial" panose="020B0604020202020204" pitchFamily="34" charset="0"/>
              <a:buChar char="•"/>
            </a:pPr>
            <a:r>
              <a:rPr lang="en-US" sz="2400" dirty="0">
                <a:solidFill>
                  <a:srgbClr val="FF0000"/>
                </a:solidFill>
              </a:rPr>
              <a:t> </a:t>
            </a:r>
            <a:r>
              <a:rPr lang="en-US" sz="2400" b="1" dirty="0">
                <a:solidFill>
                  <a:schemeClr val="accent2">
                    <a:lumMod val="75000"/>
                  </a:schemeClr>
                </a:solidFill>
                <a:latin typeface="Calibri" panose="020F0502020204030204" pitchFamily="34" charset="0"/>
              </a:rPr>
              <a:t>Donor Management</a:t>
            </a:r>
            <a:r>
              <a:rPr lang="en-US" dirty="0">
                <a:solidFill>
                  <a:schemeClr val="accent2">
                    <a:lumMod val="75000"/>
                  </a:schemeClr>
                </a:solidFill>
                <a:latin typeface="Calibri" panose="020F0502020204030204" pitchFamily="34" charset="0"/>
              </a:rPr>
              <a:t>       </a:t>
            </a:r>
            <a:r>
              <a:rPr lang="en-US" dirty="0"/>
              <a:t>          </a:t>
            </a:r>
            <a:r>
              <a:rPr lang="en-US" dirty="0">
                <a:latin typeface="Calibri" panose="020F0502020204030204" pitchFamily="34" charset="0"/>
                <a:cs typeface="Calibri" panose="020F0502020204030204" pitchFamily="34" charset="0"/>
              </a:rPr>
              <a:t>Register and manage donor     information.</a:t>
            </a:r>
            <a:r>
              <a:rPr lang="en-US" dirty="0"/>
              <a:t>
</a:t>
            </a:r>
            <a:r>
              <a:rPr lang="en-US" sz="2400" b="1" dirty="0">
                <a:solidFill>
                  <a:schemeClr val="accent2">
                    <a:lumMod val="75000"/>
                  </a:schemeClr>
                </a:solidFill>
                <a:latin typeface="Calibri" panose="020F0502020204030204" pitchFamily="34" charset="0"/>
              </a:rPr>
              <a:t>Blood Inventory</a:t>
            </a:r>
            <a:r>
              <a:rPr lang="en-US" dirty="0"/>
              <a:t>                </a:t>
            </a:r>
            <a:r>
              <a:rPr lang="en-US" dirty="0">
                <a:latin typeface="Calibri" panose="020F0502020204030204" pitchFamily="34" charset="0"/>
                <a:cs typeface="Calibri" panose="020F0502020204030204" pitchFamily="34" charset="0"/>
              </a:rPr>
              <a:t>Monitor blood stock by blood group.</a:t>
            </a:r>
            <a:r>
              <a:rPr lang="en-US" dirty="0"/>
              <a:t>
</a:t>
            </a:r>
            <a:r>
              <a:rPr lang="en-US" sz="2400" b="1" dirty="0">
                <a:solidFill>
                  <a:schemeClr val="accent2">
                    <a:lumMod val="75000"/>
                  </a:schemeClr>
                </a:solidFill>
                <a:latin typeface="Calibri" panose="020F0502020204030204" pitchFamily="34" charset="0"/>
              </a:rPr>
              <a:t>Blood Requests</a:t>
            </a:r>
            <a:r>
              <a:rPr lang="en-US" dirty="0">
                <a:solidFill>
                  <a:schemeClr val="accent2">
                    <a:lumMod val="75000"/>
                  </a:schemeClr>
                </a:solidFill>
                <a:latin typeface="Calibri" panose="020F0502020204030204" pitchFamily="34" charset="0"/>
              </a:rPr>
              <a:t>    </a:t>
            </a:r>
            <a:r>
              <a:rPr lang="en-US" dirty="0"/>
              <a:t>             </a:t>
            </a:r>
            <a:r>
              <a:rPr lang="en-US" dirty="0">
                <a:latin typeface="Calibri" panose="020F0502020204030204" pitchFamily="34" charset="0"/>
                <a:cs typeface="Calibri" panose="020F0502020204030204" pitchFamily="34" charset="0"/>
              </a:rPr>
              <a:t>Process blood requests quickly and efficiently.</a:t>
            </a:r>
            <a:endParaRPr lang="en-US" sz="2400" b="1" dirty="0">
              <a:solidFill>
                <a:srgbClr val="FF0000"/>
              </a:solidFill>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en-US" sz="2400" b="1" dirty="0">
                <a:solidFill>
                  <a:schemeClr val="accent2">
                    <a:lumMod val="75000"/>
                  </a:schemeClr>
                </a:solidFill>
                <a:latin typeface="Calibri" panose="020F0502020204030204" pitchFamily="34" charset="0"/>
              </a:rPr>
              <a:t>Donation History</a:t>
            </a:r>
            <a:r>
              <a:rPr lang="en-US" dirty="0">
                <a:solidFill>
                  <a:schemeClr val="accent2">
                    <a:lumMod val="75000"/>
                  </a:schemeClr>
                </a:solidFill>
                <a:latin typeface="Calibri" panose="020F0502020204030204" pitchFamily="34" charset="0"/>
              </a:rPr>
              <a:t>       </a:t>
            </a:r>
            <a:r>
              <a:rPr lang="en-US" dirty="0"/>
              <a:t>         </a:t>
            </a:r>
          </a:p>
          <a:p>
            <a:pPr algn="l"/>
            <a:r>
              <a:rPr lang="en-US" dirty="0">
                <a:latin typeface="Calibri" panose="020F0502020204030204" pitchFamily="34" charset="0"/>
                <a:cs typeface="Calibri" panose="020F0502020204030204" pitchFamily="34" charset="0"/>
              </a:rPr>
              <a:t>         Track donor eligibility and donation records.</a:t>
            </a:r>
          </a:p>
        </p:txBody>
      </p:sp>
    </p:spTree>
    <p:extLst>
      <p:ext uri="{BB962C8B-B14F-4D97-AF65-F5344CB8AC3E}">
        <p14:creationId xmlns:p14="http://schemas.microsoft.com/office/powerpoint/2010/main" val="18317663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2C478-23A4-46F9-1B62-403442EA6E4D}"/>
              </a:ext>
            </a:extLst>
          </p:cNvPr>
          <p:cNvSpPr>
            <a:spLocks noGrp="1"/>
          </p:cNvSpPr>
          <p:nvPr>
            <p:ph type="title"/>
          </p:nvPr>
        </p:nvSpPr>
        <p:spPr>
          <a:xfrm>
            <a:off x="838200" y="365127"/>
            <a:ext cx="10515600" cy="1051298"/>
          </a:xfrm>
        </p:spPr>
        <p:txBody>
          <a:bodyPr>
            <a:normAutofit/>
          </a:bodyPr>
          <a:lstStyle/>
          <a:p>
            <a:r>
              <a:rPr lang="en-US" sz="3200" b="1" dirty="0" smtClean="0">
                <a:solidFill>
                  <a:srgbClr val="FF0000"/>
                </a:solidFill>
                <a:latin typeface="Calibri" panose="020F0502020204030204" pitchFamily="34" charset="0"/>
              </a:rPr>
              <a:t>                              </a:t>
            </a:r>
            <a:r>
              <a:rPr lang="en-US" sz="3200" b="1" dirty="0" smtClean="0">
                <a:latin typeface="Calibri" panose="020F0502020204030204" pitchFamily="34" charset="0"/>
              </a:rPr>
              <a:t>PROBLEM STATEMENT </a:t>
            </a:r>
            <a:endParaRPr lang="en-US" sz="3200" b="1" dirty="0">
              <a:latin typeface="Calibri" panose="020F0502020204030204" pitchFamily="34" charset="0"/>
            </a:endParaRPr>
          </a:p>
        </p:txBody>
      </p:sp>
      <p:sp>
        <p:nvSpPr>
          <p:cNvPr id="3" name="Content Placeholder 2">
            <a:extLst>
              <a:ext uri="{FF2B5EF4-FFF2-40B4-BE49-F238E27FC236}">
                <a16:creationId xmlns:a16="http://schemas.microsoft.com/office/drawing/2014/main" id="{CCF91A3F-4416-D620-D12E-610994CD4C9A}"/>
              </a:ext>
            </a:extLst>
          </p:cNvPr>
          <p:cNvSpPr>
            <a:spLocks noGrp="1"/>
          </p:cNvSpPr>
          <p:nvPr>
            <p:ph idx="1"/>
          </p:nvPr>
        </p:nvSpPr>
        <p:spPr>
          <a:xfrm>
            <a:off x="838200" y="1649504"/>
            <a:ext cx="5849471" cy="4201181"/>
          </a:xfrm>
        </p:spPr>
        <p:txBody>
          <a:bodyPr>
            <a:normAutofit/>
          </a:bodyPr>
          <a:lstStyle/>
          <a:p>
            <a:pPr marL="0" indent="0">
              <a:buNone/>
            </a:pPr>
            <a:r>
              <a:rPr lang="en-US" sz="2400" b="1" dirty="0">
                <a:solidFill>
                  <a:schemeClr val="accent2">
                    <a:lumMod val="75000"/>
                  </a:schemeClr>
                </a:solidFill>
                <a:latin typeface="Calibri" panose="020F0502020204030204" pitchFamily="34" charset="0"/>
              </a:rPr>
              <a:t>CURRENT CHALLENGES IN BLOOD MANAGEMENT:</a:t>
            </a:r>
          </a:p>
          <a:p>
            <a:r>
              <a:rPr lang="en-US" sz="2000" dirty="0">
                <a:latin typeface="Calibri" panose="020F0502020204030204" pitchFamily="34" charset="0"/>
              </a:rPr>
              <a:t>Blood donor and inventory records are often managed manually.
Difficulty in tracking real-time blood stock availability.
Delays in finding compatible blood during emergencies.
Lack of proper donor eligibility and donation history management.
Manual processes increase errors, paperwork, and response time.</a:t>
            </a:r>
          </a:p>
        </p:txBody>
      </p:sp>
      <p:sp>
        <p:nvSpPr>
          <p:cNvPr id="6" name="Rectangle: Rounded Corners 5">
            <a:extLst>
              <a:ext uri="{FF2B5EF4-FFF2-40B4-BE49-F238E27FC236}">
                <a16:creationId xmlns:a16="http://schemas.microsoft.com/office/drawing/2014/main" id="{16752050-8806-8FA1-A88F-7D26EBBB650D}"/>
              </a:ext>
            </a:extLst>
          </p:cNvPr>
          <p:cNvSpPr/>
          <p:nvPr/>
        </p:nvSpPr>
        <p:spPr>
          <a:xfrm>
            <a:off x="7888942" y="1120463"/>
            <a:ext cx="3464858" cy="170001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accent2">
                    <a:lumMod val="75000"/>
                  </a:schemeClr>
                </a:solidFill>
                <a:latin typeface="Calibri" panose="020F0502020204030204" pitchFamily="34" charset="0"/>
              </a:rPr>
              <a:t>Stock </a:t>
            </a:r>
            <a:r>
              <a:rPr lang="en-US" b="1" dirty="0">
                <a:solidFill>
                  <a:schemeClr val="accent2">
                    <a:lumMod val="75000"/>
                  </a:schemeClr>
                </a:solidFill>
                <a:latin typeface="Calibri" panose="020F0502020204030204" pitchFamily="34" charset="0"/>
              </a:rPr>
              <a:t>Tracking</a:t>
            </a:r>
          </a:p>
          <a:p>
            <a:pPr algn="ctr"/>
            <a:r>
              <a:rPr lang="en-US" dirty="0" smtClean="0">
                <a:solidFill>
                  <a:schemeClr val="tx1"/>
                </a:solidFill>
                <a:latin typeface="Calibri" panose="020F0502020204030204" pitchFamily="34" charset="0"/>
              </a:rPr>
              <a:t>It does not Ensures </a:t>
            </a:r>
            <a:r>
              <a:rPr lang="en-US" dirty="0">
                <a:solidFill>
                  <a:schemeClr val="tx1"/>
                </a:solidFill>
                <a:latin typeface="Calibri" panose="020F0502020204030204" pitchFamily="34" charset="0"/>
              </a:rPr>
              <a:t>accurate blood availability.</a:t>
            </a:r>
          </a:p>
        </p:txBody>
      </p:sp>
      <p:sp>
        <p:nvSpPr>
          <p:cNvPr id="7" name="Rectangle: Rounded Corners 6">
            <a:extLst>
              <a:ext uri="{FF2B5EF4-FFF2-40B4-BE49-F238E27FC236}">
                <a16:creationId xmlns:a16="http://schemas.microsoft.com/office/drawing/2014/main" id="{A72BA817-9859-1F69-9AFE-D5BA34C6982D}"/>
              </a:ext>
            </a:extLst>
          </p:cNvPr>
          <p:cNvSpPr/>
          <p:nvPr/>
        </p:nvSpPr>
        <p:spPr>
          <a:xfrm>
            <a:off x="7888941" y="2949263"/>
            <a:ext cx="3464859" cy="158410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t>
            </a:r>
            <a:r>
              <a:rPr lang="en-US" b="1" dirty="0" smtClean="0">
                <a:solidFill>
                  <a:schemeClr val="accent2">
                    <a:lumMod val="75000"/>
                  </a:schemeClr>
                </a:solidFill>
                <a:latin typeface="Calibri" panose="020F0502020204030204" pitchFamily="34" charset="0"/>
              </a:rPr>
              <a:t> </a:t>
            </a:r>
            <a:r>
              <a:rPr lang="en-US" b="1" dirty="0">
                <a:solidFill>
                  <a:schemeClr val="accent2">
                    <a:lumMod val="75000"/>
                  </a:schemeClr>
                </a:solidFill>
                <a:latin typeface="Calibri" panose="020F0502020204030204" pitchFamily="34" charset="0"/>
              </a:rPr>
              <a:t>Emergency Response </a:t>
            </a:r>
            <a:endParaRPr lang="en-US" b="1" dirty="0" smtClean="0">
              <a:solidFill>
                <a:schemeClr val="accent2">
                  <a:lumMod val="75000"/>
                </a:schemeClr>
              </a:solidFill>
              <a:latin typeface="Calibri" panose="020F0502020204030204" pitchFamily="34" charset="0"/>
            </a:endParaRPr>
          </a:p>
          <a:p>
            <a:pPr algn="ctr"/>
            <a:r>
              <a:rPr lang="en-US" dirty="0" smtClean="0">
                <a:solidFill>
                  <a:schemeClr val="tx1"/>
                </a:solidFill>
                <a:latin typeface="Calibri" panose="020F0502020204030204" pitchFamily="34" charset="0"/>
              </a:rPr>
              <a:t>No</a:t>
            </a:r>
            <a:r>
              <a:rPr lang="en-US" b="1" dirty="0" smtClean="0">
                <a:solidFill>
                  <a:schemeClr val="accent2">
                    <a:lumMod val="75000"/>
                  </a:schemeClr>
                </a:solidFill>
                <a:latin typeface="Calibri" panose="020F0502020204030204" pitchFamily="34" charset="0"/>
              </a:rPr>
              <a:t> </a:t>
            </a:r>
            <a:r>
              <a:rPr lang="en-US" dirty="0" smtClean="0">
                <a:solidFill>
                  <a:schemeClr val="tx1"/>
                </a:solidFill>
                <a:latin typeface="Calibri" panose="020F0502020204030204" pitchFamily="34" charset="0"/>
              </a:rPr>
              <a:t>Quick </a:t>
            </a:r>
            <a:r>
              <a:rPr lang="en-US" dirty="0">
                <a:solidFill>
                  <a:schemeClr val="tx1"/>
                </a:solidFill>
                <a:latin typeface="Calibri" panose="020F0502020204030204" pitchFamily="34" charset="0"/>
              </a:rPr>
              <a:t>identification and allocation of required blood.</a:t>
            </a:r>
          </a:p>
        </p:txBody>
      </p:sp>
      <p:sp>
        <p:nvSpPr>
          <p:cNvPr id="8" name="Rectangle: Rounded Corners 7">
            <a:extLst>
              <a:ext uri="{FF2B5EF4-FFF2-40B4-BE49-F238E27FC236}">
                <a16:creationId xmlns:a16="http://schemas.microsoft.com/office/drawing/2014/main" id="{6D8732FE-AA4D-AD53-9347-7FFCB96B6C72}"/>
              </a:ext>
            </a:extLst>
          </p:cNvPr>
          <p:cNvSpPr/>
          <p:nvPr/>
        </p:nvSpPr>
        <p:spPr>
          <a:xfrm>
            <a:off x="7888943" y="4662153"/>
            <a:ext cx="3464857" cy="1532586"/>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accent2">
                    <a:lumMod val="75000"/>
                  </a:schemeClr>
                </a:solidFill>
                <a:latin typeface="Calibri" panose="020F0502020204030204" pitchFamily="34" charset="0"/>
              </a:rPr>
              <a:t>Manual Errors</a:t>
            </a:r>
          </a:p>
          <a:p>
            <a:pPr algn="ctr"/>
            <a:r>
              <a:rPr lang="en-US" b="1" dirty="0" smtClean="0">
                <a:solidFill>
                  <a:schemeClr val="accent2">
                    <a:lumMod val="75000"/>
                  </a:schemeClr>
                </a:solidFill>
                <a:latin typeface="Calibri" panose="020F0502020204030204" pitchFamily="34" charset="0"/>
              </a:rPr>
              <a:t> </a:t>
            </a:r>
            <a:r>
              <a:rPr lang="en-US" dirty="0" smtClean="0">
                <a:solidFill>
                  <a:schemeClr val="tx1"/>
                </a:solidFill>
                <a:latin typeface="Calibri" panose="020F0502020204030204" pitchFamily="34" charset="0"/>
              </a:rPr>
              <a:t>No Automated </a:t>
            </a:r>
            <a:r>
              <a:rPr lang="en-US" dirty="0">
                <a:solidFill>
                  <a:schemeClr val="tx1"/>
                </a:solidFill>
                <a:latin typeface="Calibri" panose="020F0502020204030204" pitchFamily="34" charset="0"/>
              </a:rPr>
              <a:t>records improve accuracy and efficiency.</a:t>
            </a:r>
          </a:p>
        </p:txBody>
      </p:sp>
    </p:spTree>
    <p:extLst>
      <p:ext uri="{BB962C8B-B14F-4D97-AF65-F5344CB8AC3E}">
        <p14:creationId xmlns:p14="http://schemas.microsoft.com/office/powerpoint/2010/main" val="17382755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85798-C050-1FC2-5F09-8FF9280B8763}"/>
              </a:ext>
            </a:extLst>
          </p:cNvPr>
          <p:cNvSpPr>
            <a:spLocks noGrp="1"/>
          </p:cNvSpPr>
          <p:nvPr>
            <p:ph type="title"/>
          </p:nvPr>
        </p:nvSpPr>
        <p:spPr>
          <a:xfrm>
            <a:off x="838200" y="365127"/>
            <a:ext cx="10515600" cy="441698"/>
          </a:xfrm>
        </p:spPr>
        <p:txBody>
          <a:bodyPr>
            <a:noAutofit/>
          </a:bodyPr>
          <a:lstStyle/>
          <a:p>
            <a:r>
              <a:rPr lang="en-US" sz="3200" b="1" dirty="0">
                <a:latin typeface="Calibri" panose="020F0502020204030204" pitchFamily="34" charset="0"/>
              </a:rPr>
              <a:t>PROPOSED SOLUTION </a:t>
            </a:r>
          </a:p>
        </p:txBody>
      </p:sp>
      <p:sp>
        <p:nvSpPr>
          <p:cNvPr id="3" name="Content Placeholder 2">
            <a:extLst>
              <a:ext uri="{FF2B5EF4-FFF2-40B4-BE49-F238E27FC236}">
                <a16:creationId xmlns:a16="http://schemas.microsoft.com/office/drawing/2014/main" id="{850985BD-23DE-B1DF-963B-33D357C45270}"/>
              </a:ext>
            </a:extLst>
          </p:cNvPr>
          <p:cNvSpPr>
            <a:spLocks noGrp="1"/>
          </p:cNvSpPr>
          <p:nvPr>
            <p:ph idx="1"/>
          </p:nvPr>
        </p:nvSpPr>
        <p:spPr>
          <a:xfrm>
            <a:off x="627528" y="1090246"/>
            <a:ext cx="10726271" cy="1549180"/>
          </a:xfrm>
        </p:spPr>
        <p:txBody>
          <a:bodyPr>
            <a:normAutofit/>
          </a:bodyPr>
          <a:lstStyle/>
          <a:p>
            <a:pPr marL="0" indent="0">
              <a:buNone/>
            </a:pPr>
            <a:r>
              <a:rPr lang="en-US" sz="2400" b="1" dirty="0">
                <a:solidFill>
                  <a:schemeClr val="accent2">
                    <a:lumMod val="75000"/>
                  </a:schemeClr>
                </a:solidFill>
                <a:latin typeface="Calibri" panose="020F0502020204030204" pitchFamily="34" charset="0"/>
              </a:rPr>
              <a:t>SOLUTION</a:t>
            </a:r>
            <a:r>
              <a:rPr lang="en-US" sz="2400" b="1" dirty="0">
                <a:solidFill>
                  <a:srgbClr val="FF0000"/>
                </a:solidFill>
                <a:latin typeface="Calibri" panose="020F0502020204030204" pitchFamily="34" charset="0"/>
              </a:rPr>
              <a:t>:</a:t>
            </a:r>
            <a:endParaRPr lang="en-US" sz="2400" b="1" dirty="0">
              <a:solidFill>
                <a:schemeClr val="accent2">
                  <a:lumMod val="75000"/>
                </a:schemeClr>
              </a:solidFill>
              <a:latin typeface="Calibri" panose="020F0502020204030204" pitchFamily="34" charset="0"/>
            </a:endParaRPr>
          </a:p>
          <a:p>
            <a:r>
              <a:rPr lang="en-US" sz="1800" dirty="0">
                <a:latin typeface="Calibri" panose="020F0502020204030204" pitchFamily="34" charset="0"/>
              </a:rPr>
              <a:t>Develop a Python-based Blood Bank Management System that automates donor registration, blood inventory management, and blood request processing. The system provides real-time blood availability, maintains donation history, and ensures quick and reliable blood distribution during emergencies.</a:t>
            </a:r>
          </a:p>
        </p:txBody>
      </p:sp>
      <p:sp>
        <p:nvSpPr>
          <p:cNvPr id="4" name="TextBox 3">
            <a:extLst>
              <a:ext uri="{FF2B5EF4-FFF2-40B4-BE49-F238E27FC236}">
                <a16:creationId xmlns:a16="http://schemas.microsoft.com/office/drawing/2014/main" id="{78067067-34C0-CC62-4AD5-A543B2794213}"/>
              </a:ext>
            </a:extLst>
          </p:cNvPr>
          <p:cNvSpPr txBox="1"/>
          <p:nvPr/>
        </p:nvSpPr>
        <p:spPr>
          <a:xfrm flipH="1">
            <a:off x="6647328" y="2639426"/>
            <a:ext cx="4299711" cy="2954655"/>
          </a:xfrm>
          <a:prstGeom prst="rect">
            <a:avLst/>
          </a:prstGeom>
          <a:noFill/>
        </p:spPr>
        <p:txBody>
          <a:bodyPr wrap="square" rtlCol="0">
            <a:spAutoFit/>
          </a:bodyPr>
          <a:lstStyle/>
          <a:p>
            <a:pPr algn="l"/>
            <a:r>
              <a:rPr lang="en-US" sz="2400" b="1" dirty="0">
                <a:solidFill>
                  <a:schemeClr val="accent2">
                    <a:lumMod val="75000"/>
                  </a:schemeClr>
                </a:solidFill>
                <a:latin typeface="Calibri" panose="020F0502020204030204" pitchFamily="34" charset="0"/>
              </a:rPr>
              <a:t>HOW IT’S </a:t>
            </a:r>
            <a:r>
              <a:rPr lang="en-US" sz="2400" b="1" dirty="0" smtClean="0">
                <a:solidFill>
                  <a:schemeClr val="accent2">
                    <a:lumMod val="75000"/>
                  </a:schemeClr>
                </a:solidFill>
                <a:latin typeface="Calibri" panose="020F0502020204030204" pitchFamily="34" charset="0"/>
              </a:rPr>
              <a:t>WORK:</a:t>
            </a:r>
            <a:endParaRPr lang="en-US" sz="2400" b="1" dirty="0">
              <a:solidFill>
                <a:schemeClr val="accent2">
                  <a:lumMod val="75000"/>
                </a:schemeClr>
              </a:solidFill>
              <a:latin typeface="Calibri" panose="020F0502020204030204" pitchFamily="34" charset="0"/>
            </a:endParaRPr>
          </a:p>
          <a:p>
            <a:pPr marL="285750" indent="-285750" algn="l">
              <a:buFont typeface="Arial" panose="020B0604020202020204" pitchFamily="34" charset="0"/>
              <a:buChar char="•"/>
            </a:pPr>
            <a:r>
              <a:rPr lang="en-US" dirty="0">
                <a:latin typeface="Calibri" panose="020F0502020204030204" pitchFamily="34" charset="0"/>
              </a:rPr>
              <a:t>Donor registers with personal and blood group details.
Blood donation updates the inventory.
A patient submits a blood request.
The system checks blood availability.
If available, blood is issued and stock is updated.
Admin can monitor donors, blood stock, and reports.</a:t>
            </a:r>
          </a:p>
        </p:txBody>
      </p:sp>
      <p:sp>
        <p:nvSpPr>
          <p:cNvPr id="5" name="TextBox 4">
            <a:extLst>
              <a:ext uri="{FF2B5EF4-FFF2-40B4-BE49-F238E27FC236}">
                <a16:creationId xmlns:a16="http://schemas.microsoft.com/office/drawing/2014/main" id="{BD317573-FD05-F249-B77A-D545F66B790B}"/>
              </a:ext>
            </a:extLst>
          </p:cNvPr>
          <p:cNvSpPr txBox="1"/>
          <p:nvPr/>
        </p:nvSpPr>
        <p:spPr>
          <a:xfrm>
            <a:off x="690152" y="2639426"/>
            <a:ext cx="5325038" cy="3231654"/>
          </a:xfrm>
          <a:prstGeom prst="rect">
            <a:avLst/>
          </a:prstGeom>
          <a:noFill/>
        </p:spPr>
        <p:txBody>
          <a:bodyPr wrap="square" rtlCol="0">
            <a:spAutoFit/>
          </a:bodyPr>
          <a:lstStyle/>
          <a:p>
            <a:pPr algn="l"/>
            <a:r>
              <a:rPr lang="en-US" sz="2400" b="1" dirty="0">
                <a:solidFill>
                  <a:schemeClr val="accent2">
                    <a:lumMod val="75000"/>
                  </a:schemeClr>
                </a:solidFill>
                <a:latin typeface="Calibri" panose="020F0502020204030204" pitchFamily="34" charset="0"/>
              </a:rPr>
              <a:t>KEY FEATURES:</a:t>
            </a:r>
          </a:p>
          <a:p>
            <a:pPr marL="342900" indent="-342900" algn="l">
              <a:buFont typeface="Arial" panose="020B0604020202020204" pitchFamily="34" charset="0"/>
              <a:buChar char="•"/>
            </a:pPr>
            <a:r>
              <a:rPr lang="en-US" dirty="0">
                <a:latin typeface="Calibri" panose="020F0502020204030204" pitchFamily="34" charset="0"/>
              </a:rPr>
              <a:t>Donor Registration – Store and manage donor details.
Blood Inventory – Track blood stock by  blood group.
Blood Availability Check – View available blood units instantly.
Donation History – Maintain donor records and eligibility.
Blood Request Management – Process emergency blood requests efficiently</a:t>
            </a:r>
            <a:endParaRPr lang="en-US" b="1" dirty="0">
              <a:solidFill>
                <a:srgbClr val="FF0000"/>
              </a:solidFill>
              <a:latin typeface="Calibri" panose="020F0502020204030204" pitchFamily="34" charset="0"/>
            </a:endParaRPr>
          </a:p>
        </p:txBody>
      </p:sp>
    </p:spTree>
    <p:extLst>
      <p:ext uri="{BB962C8B-B14F-4D97-AF65-F5344CB8AC3E}">
        <p14:creationId xmlns:p14="http://schemas.microsoft.com/office/powerpoint/2010/main" val="26357744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6C907-8F70-0671-70FD-56E81ECA6DBD}"/>
              </a:ext>
            </a:extLst>
          </p:cNvPr>
          <p:cNvSpPr>
            <a:spLocks noGrp="1"/>
          </p:cNvSpPr>
          <p:nvPr>
            <p:ph type="title"/>
          </p:nvPr>
        </p:nvSpPr>
        <p:spPr>
          <a:xfrm>
            <a:off x="1495023" y="145330"/>
            <a:ext cx="9112623" cy="564776"/>
          </a:xfrm>
        </p:spPr>
        <p:txBody>
          <a:bodyPr>
            <a:noAutofit/>
          </a:bodyPr>
          <a:lstStyle/>
          <a:p>
            <a:r>
              <a:rPr lang="en-US" sz="3600" b="1" dirty="0" smtClean="0">
                <a:latin typeface="Calibri" panose="020F0502020204030204" pitchFamily="34" charset="0"/>
              </a:rPr>
              <a:t>                  SYSTEM </a:t>
            </a:r>
            <a:r>
              <a:rPr lang="en-US" sz="3600" b="1" dirty="0">
                <a:latin typeface="Calibri" panose="020F0502020204030204" pitchFamily="34" charset="0"/>
              </a:rPr>
              <a:t>ARCHITECTURE</a:t>
            </a:r>
            <a:r>
              <a:rPr lang="en-US" sz="3600" b="1" dirty="0"/>
              <a:t> </a:t>
            </a:r>
            <a:endParaRPr lang="en-US" sz="3600" dirty="0"/>
          </a:p>
        </p:txBody>
      </p:sp>
      <p:pic>
        <p:nvPicPr>
          <p:cNvPr id="5" name="Picture 4">
            <a:extLst>
              <a:ext uri="{FF2B5EF4-FFF2-40B4-BE49-F238E27FC236}">
                <a16:creationId xmlns:a16="http://schemas.microsoft.com/office/drawing/2014/main" id="{3005F5DB-AEA9-88EF-8126-BFDEE5B67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155" y="800258"/>
            <a:ext cx="10092492" cy="47119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246" y="5571137"/>
            <a:ext cx="10058400" cy="1286863"/>
          </a:xfrm>
          <a:prstGeom prst="rect">
            <a:avLst/>
          </a:prstGeom>
        </p:spPr>
      </p:pic>
    </p:spTree>
    <p:extLst>
      <p:ext uri="{BB962C8B-B14F-4D97-AF65-F5344CB8AC3E}">
        <p14:creationId xmlns:p14="http://schemas.microsoft.com/office/powerpoint/2010/main" val="8446779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FBE3D4"/>
        </a:solidFill>
        <a:effectLst/>
      </p:bgPr>
    </p:bg>
    <p:spTree>
      <p:nvGrpSpPr>
        <p:cNvPr id="1" name=""/>
        <p:cNvGrpSpPr/>
        <p:nvPr/>
      </p:nvGrpSpPr>
      <p:grpSpPr>
        <a:xfrm>
          <a:off x="0" y="0"/>
          <a:ext cx="0" cy="0"/>
          <a:chOff x="0" y="0"/>
          <a:chExt cx="0" cy="0"/>
        </a:xfrm>
      </p:grpSpPr>
      <p:sp>
        <p:nvSpPr>
          <p:cNvPr id="2" name="Text 0"/>
          <p:cNvSpPr/>
          <p:nvPr/>
        </p:nvSpPr>
        <p:spPr>
          <a:xfrm>
            <a:off x="2678805" y="192024"/>
            <a:ext cx="7065349" cy="585216"/>
          </a:xfrm>
          <a:prstGeom prst="rect">
            <a:avLst/>
          </a:prstGeom>
          <a:noFill/>
          <a:ln/>
        </p:spPr>
        <p:txBody>
          <a:bodyPr wrap="square" lIns="0" tIns="0" rIns="0" bIns="0" rtlCol="0" anchor="ctr"/>
          <a:lstStyle/>
          <a:p>
            <a:pPr marL="0" indent="0">
              <a:buNone/>
            </a:pPr>
            <a:r>
              <a:rPr lang="en-US" sz="3600" b="1" dirty="0" smtClean="0">
                <a:solidFill>
                  <a:srgbClr val="2B2B2B"/>
                </a:solidFill>
                <a:latin typeface="Calibri" pitchFamily="34" charset="0"/>
                <a:ea typeface="Calibri" pitchFamily="34" charset="-122"/>
                <a:cs typeface="Calibri" pitchFamily="34" charset="-120"/>
              </a:rPr>
              <a:t>TECHNICAL </a:t>
            </a:r>
            <a:r>
              <a:rPr lang="en-US" sz="3600" b="1" dirty="0">
                <a:solidFill>
                  <a:srgbClr val="2B2B2B"/>
                </a:solidFill>
                <a:latin typeface="Calibri" pitchFamily="34" charset="0"/>
                <a:ea typeface="Calibri" pitchFamily="34" charset="-122"/>
                <a:cs typeface="Calibri" pitchFamily="34" charset="-120"/>
              </a:rPr>
              <a:t>METHODOLOGY</a:t>
            </a:r>
            <a:endParaRPr lang="en-US" sz="3600" dirty="0"/>
          </a:p>
        </p:txBody>
      </p:sp>
      <p:sp>
        <p:nvSpPr>
          <p:cNvPr id="3" name="Text 1"/>
          <p:cNvSpPr/>
          <p:nvPr/>
        </p:nvSpPr>
        <p:spPr>
          <a:xfrm>
            <a:off x="548640" y="818388"/>
            <a:ext cx="10058400" cy="320040"/>
          </a:xfrm>
          <a:prstGeom prst="rect">
            <a:avLst/>
          </a:prstGeom>
          <a:noFill/>
          <a:ln/>
        </p:spPr>
        <p:txBody>
          <a:bodyPr wrap="square" lIns="0" tIns="0" rIns="0" bIns="0" rtlCol="0" anchor="ctr"/>
          <a:lstStyle/>
          <a:p>
            <a:pPr marL="0" indent="0">
              <a:buNone/>
            </a:pPr>
            <a:r>
              <a:rPr lang="en-US" sz="1600" i="1" dirty="0">
                <a:solidFill>
                  <a:srgbClr val="6B6B6B"/>
                </a:solidFill>
                <a:latin typeface="Calibri" pitchFamily="34" charset="0"/>
                <a:ea typeface="Calibri" pitchFamily="34" charset="-122"/>
                <a:cs typeface="Calibri" pitchFamily="34" charset="-120"/>
              </a:rPr>
              <a:t>Blood Bank Management System — Pipeline-Driven, Rule-Based Automation</a:t>
            </a:r>
            <a:endParaRPr lang="en-US" sz="1600" dirty="0"/>
          </a:p>
        </p:txBody>
      </p:sp>
      <p:sp>
        <p:nvSpPr>
          <p:cNvPr id="4" name="Shape 2"/>
          <p:cNvSpPr/>
          <p:nvPr/>
        </p:nvSpPr>
        <p:spPr>
          <a:xfrm>
            <a:off x="297180" y="1179576"/>
            <a:ext cx="3736290" cy="4799698"/>
          </a:xfrm>
          <a:prstGeom prst="roundRect">
            <a:avLst>
              <a:gd name="adj" fmla="val 2759"/>
            </a:avLst>
          </a:prstGeom>
          <a:solidFill>
            <a:srgbClr val="FFFFFF"/>
          </a:solidFill>
          <a:ln/>
          <a:effectLst>
            <a:outerShdw blurRad="101600" dist="25400" dir="5400000" algn="bl" rotWithShape="0">
              <a:srgbClr val="000000">
                <a:alpha val="12000"/>
              </a:srgbClr>
            </a:outerShdw>
          </a:effectLst>
        </p:spPr>
        <p:txBody>
          <a:bodyPr/>
          <a:lstStyle/>
          <a:p>
            <a:endParaRPr lang="en-US" dirty="0"/>
          </a:p>
        </p:txBody>
      </p:sp>
      <p:sp>
        <p:nvSpPr>
          <p:cNvPr id="5" name="Text 3"/>
          <p:cNvSpPr/>
          <p:nvPr/>
        </p:nvSpPr>
        <p:spPr>
          <a:xfrm>
            <a:off x="822960" y="1618488"/>
            <a:ext cx="3429000" cy="301752"/>
          </a:xfrm>
          <a:prstGeom prst="rect">
            <a:avLst/>
          </a:prstGeom>
          <a:noFill/>
          <a:ln/>
        </p:spPr>
        <p:txBody>
          <a:bodyPr wrap="square" lIns="0" tIns="0" rIns="0" bIns="0" rtlCol="0" anchor="ctr"/>
          <a:lstStyle/>
          <a:p>
            <a:pPr marL="0" indent="0">
              <a:buNone/>
            </a:pPr>
            <a:r>
              <a:rPr lang="en-US" sz="2000" b="1" dirty="0">
                <a:solidFill>
                  <a:schemeClr val="accent2">
                    <a:lumMod val="75000"/>
                  </a:schemeClr>
                </a:solidFill>
                <a:latin typeface="Calibri" pitchFamily="34" charset="0"/>
                <a:ea typeface="Calibri" pitchFamily="34" charset="-122"/>
                <a:cs typeface="Calibri" pitchFamily="34" charset="-120"/>
              </a:rPr>
              <a:t>MODULE EXECUTION FLOW</a:t>
            </a:r>
            <a:endParaRPr lang="en-US" sz="2000" b="1" dirty="0">
              <a:solidFill>
                <a:schemeClr val="accent2">
                  <a:lumMod val="75000"/>
                </a:schemeClr>
              </a:solidFill>
            </a:endParaRPr>
          </a:p>
        </p:txBody>
      </p:sp>
      <p:sp>
        <p:nvSpPr>
          <p:cNvPr id="6" name="Text 4"/>
          <p:cNvSpPr/>
          <p:nvPr/>
        </p:nvSpPr>
        <p:spPr>
          <a:xfrm>
            <a:off x="822960" y="1920240"/>
            <a:ext cx="3429000" cy="274320"/>
          </a:xfrm>
          <a:prstGeom prst="rect">
            <a:avLst/>
          </a:prstGeom>
          <a:noFill/>
          <a:ln/>
        </p:spPr>
        <p:txBody>
          <a:bodyPr wrap="square" lIns="0" tIns="0" rIns="0" bIns="0" rtlCol="0" anchor="ctr"/>
          <a:lstStyle/>
          <a:p>
            <a:pPr marL="0" indent="0">
              <a:buNone/>
            </a:pPr>
            <a:r>
              <a:rPr lang="en-US" sz="1200" i="1" dirty="0" smtClean="0">
                <a:solidFill>
                  <a:srgbClr val="6B6B6B"/>
                </a:solidFill>
                <a:latin typeface="Calibri" pitchFamily="34" charset="0"/>
                <a:ea typeface="Calibri" pitchFamily="34" charset="-122"/>
                <a:cs typeface="Calibri" pitchFamily="34" charset="-120"/>
              </a:rPr>
              <a:t>Sequential pipeline </a:t>
            </a:r>
            <a:r>
              <a:rPr lang="en-US" sz="1200" i="1" dirty="0">
                <a:solidFill>
                  <a:srgbClr val="6B6B6B"/>
                </a:solidFill>
                <a:latin typeface="Calibri" pitchFamily="34" charset="0"/>
                <a:ea typeface="Calibri" pitchFamily="34" charset="-122"/>
                <a:cs typeface="Calibri" pitchFamily="34" charset="-120"/>
              </a:rPr>
              <a:t>architecture</a:t>
            </a:r>
            <a:endParaRPr lang="en-US" sz="1200" dirty="0"/>
          </a:p>
        </p:txBody>
      </p:sp>
      <p:sp>
        <p:nvSpPr>
          <p:cNvPr id="7" name="Shape 5"/>
          <p:cNvSpPr/>
          <p:nvPr/>
        </p:nvSpPr>
        <p:spPr>
          <a:xfrm>
            <a:off x="822960" y="2331720"/>
            <a:ext cx="384048" cy="384048"/>
          </a:xfrm>
          <a:prstGeom prst="ellipse">
            <a:avLst/>
          </a:prstGeom>
          <a:solidFill>
            <a:srgbClr val="FDEDE7"/>
          </a:solidFill>
          <a:ln/>
        </p:spPr>
      </p:sp>
      <p:pic>
        <p:nvPicPr>
          <p:cNvPr id="8" name="Image 0" descr="preencoded.png"/>
          <p:cNvPicPr>
            <a:picLocks noChangeAspect="1"/>
          </p:cNvPicPr>
          <p:nvPr/>
        </p:nvPicPr>
        <p:blipFill>
          <a:blip r:embed="rId3"/>
          <a:stretch>
            <a:fillRect/>
          </a:stretch>
        </p:blipFill>
        <p:spPr>
          <a:xfrm>
            <a:off x="909828" y="2404872"/>
            <a:ext cx="246888" cy="246888"/>
          </a:xfrm>
          <a:prstGeom prst="rect">
            <a:avLst/>
          </a:prstGeom>
        </p:spPr>
      </p:pic>
      <p:sp>
        <p:nvSpPr>
          <p:cNvPr id="9" name="Text 6"/>
          <p:cNvSpPr/>
          <p:nvPr/>
        </p:nvSpPr>
        <p:spPr>
          <a:xfrm>
            <a:off x="1325880" y="2313432"/>
            <a:ext cx="2926080" cy="457200"/>
          </a:xfrm>
          <a:prstGeom prst="rect">
            <a:avLst/>
          </a:prstGeom>
          <a:noFill/>
          <a:ln/>
        </p:spPr>
        <p:txBody>
          <a:bodyPr wrap="square" lIns="0" tIns="0" rIns="0" bIns="0" rtlCol="0" anchor="ctr"/>
          <a:lstStyle/>
          <a:p>
            <a:pPr marL="0" indent="0">
              <a:buNone/>
            </a:pPr>
            <a:r>
              <a:rPr lang="en-US" dirty="0">
                <a:solidFill>
                  <a:srgbClr val="2B2B2B"/>
                </a:solidFill>
                <a:latin typeface="Calibri" pitchFamily="34" charset="0"/>
                <a:ea typeface="Calibri" pitchFamily="34" charset="-122"/>
                <a:cs typeface="Calibri" pitchFamily="34" charset="-120"/>
              </a:rPr>
              <a:t>1. Donor Registration</a:t>
            </a:r>
            <a:endParaRPr lang="en-US" dirty="0"/>
          </a:p>
        </p:txBody>
      </p:sp>
      <p:sp>
        <p:nvSpPr>
          <p:cNvPr id="10" name="Shape 7"/>
          <p:cNvSpPr/>
          <p:nvPr/>
        </p:nvSpPr>
        <p:spPr>
          <a:xfrm>
            <a:off x="1014984" y="2715768"/>
            <a:ext cx="0" cy="146304"/>
          </a:xfrm>
          <a:prstGeom prst="line">
            <a:avLst/>
          </a:prstGeom>
          <a:noFill/>
          <a:ln w="19050">
            <a:solidFill>
              <a:srgbClr val="E8C4B0"/>
            </a:solidFill>
            <a:prstDash val="dash"/>
          </a:ln>
        </p:spPr>
      </p:sp>
      <p:sp>
        <p:nvSpPr>
          <p:cNvPr id="11" name="Shape 8"/>
          <p:cNvSpPr/>
          <p:nvPr/>
        </p:nvSpPr>
        <p:spPr>
          <a:xfrm>
            <a:off x="822960" y="2862072"/>
            <a:ext cx="384048" cy="384048"/>
          </a:xfrm>
          <a:prstGeom prst="ellipse">
            <a:avLst/>
          </a:prstGeom>
          <a:solidFill>
            <a:srgbClr val="FDEDE7"/>
          </a:solidFill>
          <a:ln/>
        </p:spPr>
      </p:sp>
      <p:pic>
        <p:nvPicPr>
          <p:cNvPr id="12" name="Image 1" descr="preencoded.png"/>
          <p:cNvPicPr>
            <a:picLocks noChangeAspect="1"/>
          </p:cNvPicPr>
          <p:nvPr/>
        </p:nvPicPr>
        <p:blipFill>
          <a:blip r:embed="rId4"/>
          <a:stretch>
            <a:fillRect/>
          </a:stretch>
        </p:blipFill>
        <p:spPr>
          <a:xfrm>
            <a:off x="909828" y="2935224"/>
            <a:ext cx="246888" cy="246888"/>
          </a:xfrm>
          <a:prstGeom prst="rect">
            <a:avLst/>
          </a:prstGeom>
        </p:spPr>
      </p:pic>
      <p:sp>
        <p:nvSpPr>
          <p:cNvPr id="13" name="Text 9"/>
          <p:cNvSpPr/>
          <p:nvPr/>
        </p:nvSpPr>
        <p:spPr>
          <a:xfrm>
            <a:off x="1262838" y="2857049"/>
            <a:ext cx="2926080" cy="457200"/>
          </a:xfrm>
          <a:prstGeom prst="rect">
            <a:avLst/>
          </a:prstGeom>
          <a:noFill/>
          <a:ln/>
        </p:spPr>
        <p:txBody>
          <a:bodyPr wrap="square" lIns="0" tIns="0" rIns="0" bIns="0" rtlCol="0" anchor="ctr"/>
          <a:lstStyle/>
          <a:p>
            <a:pPr marL="0" indent="0">
              <a:buNone/>
            </a:pPr>
            <a:r>
              <a:rPr lang="en-US" dirty="0">
                <a:solidFill>
                  <a:srgbClr val="2B2B2B"/>
                </a:solidFill>
                <a:latin typeface="Calibri" pitchFamily="34" charset="0"/>
                <a:ea typeface="Calibri" pitchFamily="34" charset="-122"/>
                <a:cs typeface="Calibri" pitchFamily="34" charset="-120"/>
              </a:rPr>
              <a:t>2. Eligibility Check (Recursive)</a:t>
            </a:r>
            <a:endParaRPr lang="en-US" dirty="0"/>
          </a:p>
        </p:txBody>
      </p:sp>
      <p:sp>
        <p:nvSpPr>
          <p:cNvPr id="14" name="Shape 10"/>
          <p:cNvSpPr/>
          <p:nvPr/>
        </p:nvSpPr>
        <p:spPr>
          <a:xfrm>
            <a:off x="1014984" y="3246120"/>
            <a:ext cx="0" cy="146304"/>
          </a:xfrm>
          <a:prstGeom prst="line">
            <a:avLst/>
          </a:prstGeom>
          <a:noFill/>
          <a:ln w="19050">
            <a:solidFill>
              <a:srgbClr val="E8C4B0"/>
            </a:solidFill>
            <a:prstDash val="dash"/>
          </a:ln>
        </p:spPr>
      </p:sp>
      <p:sp>
        <p:nvSpPr>
          <p:cNvPr id="15" name="Shape 11"/>
          <p:cNvSpPr/>
          <p:nvPr/>
        </p:nvSpPr>
        <p:spPr>
          <a:xfrm>
            <a:off x="822960" y="3392424"/>
            <a:ext cx="384048" cy="384048"/>
          </a:xfrm>
          <a:prstGeom prst="ellipse">
            <a:avLst/>
          </a:prstGeom>
          <a:solidFill>
            <a:srgbClr val="FDEDE7"/>
          </a:solidFill>
          <a:ln/>
        </p:spPr>
      </p:sp>
      <p:pic>
        <p:nvPicPr>
          <p:cNvPr id="16" name="Image 2" descr="preencoded.png"/>
          <p:cNvPicPr>
            <a:picLocks noChangeAspect="1"/>
          </p:cNvPicPr>
          <p:nvPr/>
        </p:nvPicPr>
        <p:blipFill>
          <a:blip r:embed="rId5"/>
          <a:stretch>
            <a:fillRect/>
          </a:stretch>
        </p:blipFill>
        <p:spPr>
          <a:xfrm>
            <a:off x="909828" y="3465576"/>
            <a:ext cx="246888" cy="246888"/>
          </a:xfrm>
          <a:prstGeom prst="rect">
            <a:avLst/>
          </a:prstGeom>
        </p:spPr>
      </p:pic>
      <p:sp>
        <p:nvSpPr>
          <p:cNvPr id="17" name="Text 12"/>
          <p:cNvSpPr/>
          <p:nvPr/>
        </p:nvSpPr>
        <p:spPr>
          <a:xfrm>
            <a:off x="1275008" y="3374136"/>
            <a:ext cx="2976952" cy="457200"/>
          </a:xfrm>
          <a:prstGeom prst="rect">
            <a:avLst/>
          </a:prstGeom>
          <a:noFill/>
          <a:ln/>
        </p:spPr>
        <p:txBody>
          <a:bodyPr wrap="square" lIns="0" tIns="0" rIns="0" bIns="0" rtlCol="0" anchor="ctr"/>
          <a:lstStyle/>
          <a:p>
            <a:pPr marL="0" indent="0">
              <a:buNone/>
            </a:pPr>
            <a:r>
              <a:rPr lang="en-US" dirty="0" smtClean="0">
                <a:solidFill>
                  <a:srgbClr val="2B2B2B"/>
                </a:solidFill>
                <a:latin typeface="Calibri" pitchFamily="34" charset="0"/>
                <a:ea typeface="Calibri" pitchFamily="34" charset="-122"/>
                <a:cs typeface="Calibri" pitchFamily="34" charset="-120"/>
              </a:rPr>
              <a:t>3.</a:t>
            </a:r>
            <a:r>
              <a:rPr lang="en-US" sz="1150" dirty="0" smtClean="0">
                <a:solidFill>
                  <a:srgbClr val="2B2B2B"/>
                </a:solidFill>
                <a:latin typeface="Calibri" pitchFamily="34" charset="0"/>
                <a:ea typeface="Calibri" pitchFamily="34" charset="-122"/>
                <a:cs typeface="Calibri" pitchFamily="34" charset="-120"/>
              </a:rPr>
              <a:t> </a:t>
            </a:r>
            <a:r>
              <a:rPr lang="en-US" dirty="0">
                <a:solidFill>
                  <a:srgbClr val="2B2B2B"/>
                </a:solidFill>
                <a:latin typeface="Calibri" pitchFamily="34" charset="0"/>
                <a:ea typeface="Calibri" pitchFamily="34" charset="-122"/>
                <a:cs typeface="Calibri" pitchFamily="34" charset="-120"/>
              </a:rPr>
              <a:t>Blood Collection</a:t>
            </a:r>
            <a:endParaRPr lang="en-US" dirty="0"/>
          </a:p>
        </p:txBody>
      </p:sp>
      <p:sp>
        <p:nvSpPr>
          <p:cNvPr id="18" name="Shape 13"/>
          <p:cNvSpPr/>
          <p:nvPr/>
        </p:nvSpPr>
        <p:spPr>
          <a:xfrm>
            <a:off x="1014984" y="3776472"/>
            <a:ext cx="0" cy="146304"/>
          </a:xfrm>
          <a:prstGeom prst="line">
            <a:avLst/>
          </a:prstGeom>
          <a:noFill/>
          <a:ln w="19050">
            <a:solidFill>
              <a:srgbClr val="E8C4B0"/>
            </a:solidFill>
            <a:prstDash val="dash"/>
          </a:ln>
        </p:spPr>
      </p:sp>
      <p:sp>
        <p:nvSpPr>
          <p:cNvPr id="19" name="Shape 14"/>
          <p:cNvSpPr/>
          <p:nvPr/>
        </p:nvSpPr>
        <p:spPr>
          <a:xfrm>
            <a:off x="822960" y="3922776"/>
            <a:ext cx="384048" cy="384048"/>
          </a:xfrm>
          <a:prstGeom prst="ellipse">
            <a:avLst/>
          </a:prstGeom>
          <a:solidFill>
            <a:srgbClr val="FDEDE7"/>
          </a:solidFill>
          <a:ln/>
        </p:spPr>
      </p:sp>
      <p:pic>
        <p:nvPicPr>
          <p:cNvPr id="20" name="Image 3" descr="preencoded.png"/>
          <p:cNvPicPr>
            <a:picLocks noChangeAspect="1"/>
          </p:cNvPicPr>
          <p:nvPr/>
        </p:nvPicPr>
        <p:blipFill>
          <a:blip r:embed="rId6"/>
          <a:stretch>
            <a:fillRect/>
          </a:stretch>
        </p:blipFill>
        <p:spPr>
          <a:xfrm>
            <a:off x="909828" y="3995928"/>
            <a:ext cx="246888" cy="246888"/>
          </a:xfrm>
          <a:prstGeom prst="rect">
            <a:avLst/>
          </a:prstGeom>
        </p:spPr>
      </p:pic>
      <p:sp>
        <p:nvSpPr>
          <p:cNvPr id="21" name="Text 15"/>
          <p:cNvSpPr/>
          <p:nvPr/>
        </p:nvSpPr>
        <p:spPr>
          <a:xfrm>
            <a:off x="1325880" y="3904488"/>
            <a:ext cx="2926080" cy="457200"/>
          </a:xfrm>
          <a:prstGeom prst="rect">
            <a:avLst/>
          </a:prstGeom>
          <a:noFill/>
          <a:ln/>
        </p:spPr>
        <p:txBody>
          <a:bodyPr wrap="square" lIns="0" tIns="0" rIns="0" bIns="0" rtlCol="0" anchor="ctr"/>
          <a:lstStyle/>
          <a:p>
            <a:pPr marL="0" indent="0">
              <a:buNone/>
            </a:pPr>
            <a:r>
              <a:rPr lang="en-US" dirty="0">
                <a:solidFill>
                  <a:srgbClr val="2B2B2B"/>
                </a:solidFill>
                <a:latin typeface="Calibri" pitchFamily="34" charset="0"/>
                <a:ea typeface="Calibri" pitchFamily="34" charset="-122"/>
                <a:cs typeface="Calibri" pitchFamily="34" charset="-120"/>
              </a:rPr>
              <a:t>4. Blood </a:t>
            </a:r>
            <a:r>
              <a:rPr lang="en-US" dirty="0" smtClean="0">
                <a:solidFill>
                  <a:srgbClr val="2B2B2B"/>
                </a:solidFill>
                <a:latin typeface="Calibri" pitchFamily="34" charset="0"/>
                <a:ea typeface="Calibri" pitchFamily="34" charset="-122"/>
                <a:cs typeface="Calibri" pitchFamily="34" charset="-120"/>
              </a:rPr>
              <a:t>Testing</a:t>
            </a:r>
            <a:endParaRPr lang="en-US" dirty="0"/>
          </a:p>
        </p:txBody>
      </p:sp>
      <p:sp>
        <p:nvSpPr>
          <p:cNvPr id="22" name="Shape 16"/>
          <p:cNvSpPr/>
          <p:nvPr/>
        </p:nvSpPr>
        <p:spPr>
          <a:xfrm>
            <a:off x="1014984" y="4306824"/>
            <a:ext cx="0" cy="146304"/>
          </a:xfrm>
          <a:prstGeom prst="line">
            <a:avLst/>
          </a:prstGeom>
          <a:noFill/>
          <a:ln w="19050">
            <a:solidFill>
              <a:srgbClr val="E8C4B0"/>
            </a:solidFill>
            <a:prstDash val="dash"/>
          </a:ln>
        </p:spPr>
      </p:sp>
      <p:sp>
        <p:nvSpPr>
          <p:cNvPr id="23" name="Shape 17"/>
          <p:cNvSpPr/>
          <p:nvPr/>
        </p:nvSpPr>
        <p:spPr>
          <a:xfrm>
            <a:off x="822960" y="4453128"/>
            <a:ext cx="384048" cy="384048"/>
          </a:xfrm>
          <a:prstGeom prst="ellipse">
            <a:avLst/>
          </a:prstGeom>
          <a:solidFill>
            <a:srgbClr val="FDEDE7"/>
          </a:solidFill>
          <a:ln/>
        </p:spPr>
      </p:sp>
      <p:pic>
        <p:nvPicPr>
          <p:cNvPr id="24" name="Image 4" descr="preencoded.png"/>
          <p:cNvPicPr>
            <a:picLocks noChangeAspect="1"/>
          </p:cNvPicPr>
          <p:nvPr/>
        </p:nvPicPr>
        <p:blipFill>
          <a:blip r:embed="rId7"/>
          <a:stretch>
            <a:fillRect/>
          </a:stretch>
        </p:blipFill>
        <p:spPr>
          <a:xfrm>
            <a:off x="909828" y="4526280"/>
            <a:ext cx="246888" cy="246888"/>
          </a:xfrm>
          <a:prstGeom prst="rect">
            <a:avLst/>
          </a:prstGeom>
        </p:spPr>
      </p:pic>
      <p:sp>
        <p:nvSpPr>
          <p:cNvPr id="25" name="Text 18"/>
          <p:cNvSpPr/>
          <p:nvPr/>
        </p:nvSpPr>
        <p:spPr>
          <a:xfrm>
            <a:off x="1243584" y="4434840"/>
            <a:ext cx="3008376" cy="457200"/>
          </a:xfrm>
          <a:prstGeom prst="rect">
            <a:avLst/>
          </a:prstGeom>
          <a:noFill/>
          <a:ln/>
        </p:spPr>
        <p:txBody>
          <a:bodyPr wrap="square" lIns="0" tIns="0" rIns="0" bIns="0" rtlCol="0" anchor="ctr"/>
          <a:lstStyle/>
          <a:p>
            <a:pPr marL="0" indent="0">
              <a:buNone/>
            </a:pPr>
            <a:r>
              <a:rPr lang="en-US" dirty="0">
                <a:solidFill>
                  <a:srgbClr val="2B2B2B"/>
                </a:solidFill>
                <a:latin typeface="Calibri" pitchFamily="34" charset="0"/>
                <a:ea typeface="Calibri" pitchFamily="34" charset="-122"/>
                <a:cs typeface="Calibri" pitchFamily="34" charset="-120"/>
              </a:rPr>
              <a:t>5. Blood Storage (Indexed</a:t>
            </a:r>
            <a:r>
              <a:rPr lang="en-US" sz="1150" dirty="0">
                <a:solidFill>
                  <a:srgbClr val="2B2B2B"/>
                </a:solidFill>
                <a:latin typeface="Calibri" pitchFamily="34" charset="0"/>
                <a:ea typeface="Calibri" pitchFamily="34" charset="-122"/>
                <a:cs typeface="Calibri" pitchFamily="34" charset="-120"/>
              </a:rPr>
              <a:t>)</a:t>
            </a:r>
            <a:endParaRPr lang="en-US" sz="1150" dirty="0"/>
          </a:p>
        </p:txBody>
      </p:sp>
      <p:sp>
        <p:nvSpPr>
          <p:cNvPr id="26" name="Shape 19"/>
          <p:cNvSpPr/>
          <p:nvPr/>
        </p:nvSpPr>
        <p:spPr>
          <a:xfrm>
            <a:off x="1014984" y="4837176"/>
            <a:ext cx="0" cy="146304"/>
          </a:xfrm>
          <a:prstGeom prst="line">
            <a:avLst/>
          </a:prstGeom>
          <a:noFill/>
          <a:ln w="19050">
            <a:solidFill>
              <a:srgbClr val="E8C4B0"/>
            </a:solidFill>
            <a:prstDash val="dash"/>
          </a:ln>
        </p:spPr>
      </p:sp>
      <p:sp>
        <p:nvSpPr>
          <p:cNvPr id="27" name="Shape 20"/>
          <p:cNvSpPr/>
          <p:nvPr/>
        </p:nvSpPr>
        <p:spPr>
          <a:xfrm>
            <a:off x="822960" y="4983480"/>
            <a:ext cx="384048" cy="384048"/>
          </a:xfrm>
          <a:prstGeom prst="ellipse">
            <a:avLst/>
          </a:prstGeom>
          <a:solidFill>
            <a:srgbClr val="FDEDE7"/>
          </a:solidFill>
          <a:ln/>
        </p:spPr>
      </p:sp>
      <p:pic>
        <p:nvPicPr>
          <p:cNvPr id="28" name="Image 5" descr="preencoded.png"/>
          <p:cNvPicPr>
            <a:picLocks noChangeAspect="1"/>
          </p:cNvPicPr>
          <p:nvPr/>
        </p:nvPicPr>
        <p:blipFill>
          <a:blip r:embed="rId8"/>
          <a:stretch>
            <a:fillRect/>
          </a:stretch>
        </p:blipFill>
        <p:spPr>
          <a:xfrm>
            <a:off x="909828" y="5056632"/>
            <a:ext cx="246888" cy="246888"/>
          </a:xfrm>
          <a:prstGeom prst="rect">
            <a:avLst/>
          </a:prstGeom>
        </p:spPr>
      </p:pic>
      <p:sp>
        <p:nvSpPr>
          <p:cNvPr id="29" name="Text 21"/>
          <p:cNvSpPr/>
          <p:nvPr/>
        </p:nvSpPr>
        <p:spPr>
          <a:xfrm>
            <a:off x="1243584" y="4978457"/>
            <a:ext cx="2899678" cy="457200"/>
          </a:xfrm>
          <a:prstGeom prst="rect">
            <a:avLst/>
          </a:prstGeom>
          <a:noFill/>
          <a:ln/>
        </p:spPr>
        <p:txBody>
          <a:bodyPr wrap="square" lIns="0" tIns="0" rIns="0" bIns="0" rtlCol="0" anchor="ctr"/>
          <a:lstStyle/>
          <a:p>
            <a:pPr marL="0" indent="0">
              <a:buNone/>
            </a:pPr>
            <a:r>
              <a:rPr lang="en-US" dirty="0">
                <a:solidFill>
                  <a:srgbClr val="2B2B2B"/>
                </a:solidFill>
                <a:latin typeface="Calibri" pitchFamily="34" charset="0"/>
                <a:ea typeface="Calibri" pitchFamily="34" charset="-122"/>
                <a:cs typeface="Calibri" pitchFamily="34" charset="-120"/>
              </a:rPr>
              <a:t>6. Inventory Management</a:t>
            </a:r>
            <a:endParaRPr lang="en-US" dirty="0"/>
          </a:p>
        </p:txBody>
      </p:sp>
      <p:sp>
        <p:nvSpPr>
          <p:cNvPr id="30" name="Shape 22"/>
          <p:cNvSpPr/>
          <p:nvPr/>
        </p:nvSpPr>
        <p:spPr>
          <a:xfrm>
            <a:off x="1014984" y="5367528"/>
            <a:ext cx="0" cy="146304"/>
          </a:xfrm>
          <a:prstGeom prst="line">
            <a:avLst/>
          </a:prstGeom>
          <a:noFill/>
          <a:ln w="19050">
            <a:solidFill>
              <a:srgbClr val="E8C4B0"/>
            </a:solidFill>
            <a:prstDash val="dash"/>
          </a:ln>
        </p:spPr>
      </p:sp>
      <p:sp>
        <p:nvSpPr>
          <p:cNvPr id="31" name="Shape 23"/>
          <p:cNvSpPr/>
          <p:nvPr/>
        </p:nvSpPr>
        <p:spPr>
          <a:xfrm>
            <a:off x="822960" y="5513832"/>
            <a:ext cx="384048" cy="384048"/>
          </a:xfrm>
          <a:prstGeom prst="ellipse">
            <a:avLst/>
          </a:prstGeom>
          <a:solidFill>
            <a:srgbClr val="FDEDE7"/>
          </a:solidFill>
          <a:ln/>
        </p:spPr>
      </p:sp>
      <p:pic>
        <p:nvPicPr>
          <p:cNvPr id="32" name="Image 6" descr="preencoded.png"/>
          <p:cNvPicPr>
            <a:picLocks noChangeAspect="1"/>
          </p:cNvPicPr>
          <p:nvPr/>
        </p:nvPicPr>
        <p:blipFill>
          <a:blip r:embed="rId9"/>
          <a:stretch>
            <a:fillRect/>
          </a:stretch>
        </p:blipFill>
        <p:spPr>
          <a:xfrm>
            <a:off x="909828" y="5586984"/>
            <a:ext cx="246888" cy="246888"/>
          </a:xfrm>
          <a:prstGeom prst="rect">
            <a:avLst/>
          </a:prstGeom>
        </p:spPr>
      </p:pic>
      <p:sp>
        <p:nvSpPr>
          <p:cNvPr id="33" name="Text 24"/>
          <p:cNvSpPr/>
          <p:nvPr/>
        </p:nvSpPr>
        <p:spPr>
          <a:xfrm>
            <a:off x="1243584" y="5522074"/>
            <a:ext cx="2926080" cy="457200"/>
          </a:xfrm>
          <a:prstGeom prst="rect">
            <a:avLst/>
          </a:prstGeom>
          <a:noFill/>
          <a:ln/>
        </p:spPr>
        <p:txBody>
          <a:bodyPr wrap="square" lIns="0" tIns="0" rIns="0" bIns="0" rtlCol="0" anchor="ctr"/>
          <a:lstStyle/>
          <a:p>
            <a:pPr marL="0" indent="0">
              <a:buNone/>
            </a:pPr>
            <a:r>
              <a:rPr lang="en-US" dirty="0" smtClean="0">
                <a:solidFill>
                  <a:srgbClr val="2B2B2B"/>
                </a:solidFill>
                <a:latin typeface="Calibri" pitchFamily="34" charset="0"/>
                <a:ea typeface="Calibri" pitchFamily="34" charset="-122"/>
                <a:cs typeface="Calibri" pitchFamily="34" charset="-120"/>
              </a:rPr>
              <a:t>7.Issue </a:t>
            </a:r>
            <a:r>
              <a:rPr lang="en-US" dirty="0">
                <a:solidFill>
                  <a:srgbClr val="2B2B2B"/>
                </a:solidFill>
                <a:latin typeface="Calibri" pitchFamily="34" charset="0"/>
                <a:ea typeface="Calibri" pitchFamily="34" charset="-122"/>
                <a:cs typeface="Calibri" pitchFamily="34" charset="-120"/>
              </a:rPr>
              <a:t>&amp; Report Generation</a:t>
            </a:r>
            <a:endParaRPr lang="en-US" dirty="0"/>
          </a:p>
        </p:txBody>
      </p:sp>
      <p:sp>
        <p:nvSpPr>
          <p:cNvPr id="34" name="Shape 25"/>
          <p:cNvSpPr/>
          <p:nvPr/>
        </p:nvSpPr>
        <p:spPr>
          <a:xfrm>
            <a:off x="4370832" y="1156458"/>
            <a:ext cx="3429000" cy="2651760"/>
          </a:xfrm>
          <a:prstGeom prst="roundRect">
            <a:avLst>
              <a:gd name="adj" fmla="val 4444"/>
            </a:avLst>
          </a:prstGeom>
          <a:solidFill>
            <a:srgbClr val="FFFFFF"/>
          </a:solidFill>
          <a:ln/>
          <a:effectLst>
            <a:outerShdw blurRad="101600" dist="25400" dir="5400000" algn="bl" rotWithShape="0">
              <a:srgbClr val="000000">
                <a:alpha val="12000"/>
              </a:srgbClr>
            </a:outerShdw>
          </a:effectLst>
        </p:spPr>
      </p:sp>
      <p:pic>
        <p:nvPicPr>
          <p:cNvPr id="35" name="Image 7" descr="preencoded.png"/>
          <p:cNvPicPr>
            <a:picLocks noChangeAspect="1"/>
          </p:cNvPicPr>
          <p:nvPr/>
        </p:nvPicPr>
        <p:blipFill>
          <a:blip r:embed="rId10"/>
          <a:stretch>
            <a:fillRect/>
          </a:stretch>
        </p:blipFill>
        <p:spPr>
          <a:xfrm>
            <a:off x="5052060" y="1236726"/>
            <a:ext cx="292608" cy="292608"/>
          </a:xfrm>
          <a:prstGeom prst="rect">
            <a:avLst/>
          </a:prstGeom>
        </p:spPr>
      </p:pic>
      <p:sp>
        <p:nvSpPr>
          <p:cNvPr id="36" name="Text 26"/>
          <p:cNvSpPr/>
          <p:nvPr/>
        </p:nvSpPr>
        <p:spPr>
          <a:xfrm>
            <a:off x="5404104" y="1192552"/>
            <a:ext cx="2514600" cy="365760"/>
          </a:xfrm>
          <a:prstGeom prst="rect">
            <a:avLst/>
          </a:prstGeom>
          <a:noFill/>
          <a:ln/>
        </p:spPr>
        <p:txBody>
          <a:bodyPr wrap="square" lIns="0" tIns="0" rIns="0" bIns="0" rtlCol="0" anchor="ctr"/>
          <a:lstStyle/>
          <a:p>
            <a:pPr marL="0" indent="0">
              <a:buNone/>
            </a:pPr>
            <a:r>
              <a:rPr lang="en-US" b="1" dirty="0">
                <a:solidFill>
                  <a:srgbClr val="C0392B"/>
                </a:solidFill>
                <a:latin typeface="Calibri" pitchFamily="34" charset="0"/>
                <a:ea typeface="Calibri" pitchFamily="34" charset="-122"/>
                <a:cs typeface="Calibri" pitchFamily="34" charset="-120"/>
              </a:rPr>
              <a:t>DATA DESIGN</a:t>
            </a:r>
            <a:endParaRPr lang="en-US" dirty="0"/>
          </a:p>
        </p:txBody>
      </p:sp>
      <p:sp>
        <p:nvSpPr>
          <p:cNvPr id="37" name="Text 27"/>
          <p:cNvSpPr/>
          <p:nvPr/>
        </p:nvSpPr>
        <p:spPr>
          <a:xfrm>
            <a:off x="4543731" y="1547364"/>
            <a:ext cx="2993694" cy="16916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Donor &amp; recipient records — dictionary-based modeling</a:t>
            </a:r>
            <a:endParaRPr lang="en-US" sz="1600" dirty="0"/>
          </a:p>
          <a:p>
            <a:pPr marL="342900" indent="-342900">
              <a:lnSpc>
                <a:spcPct val="100000"/>
              </a:lnSpc>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Blood inventory — nested dict by blood group</a:t>
            </a:r>
            <a:endParaRPr lang="en-US" sz="1600" dirty="0"/>
          </a:p>
          <a:p>
            <a:pPr marL="342900" indent="-342900">
              <a:lnSpc>
                <a:spcPct val="100000"/>
              </a:lnSpc>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Request handling — FIFO queue for fairness</a:t>
            </a:r>
            <a:endParaRPr lang="en-US" sz="1600" dirty="0"/>
          </a:p>
          <a:p>
            <a:pPr marL="342900" indent="-342900">
              <a:lnSpc>
                <a:spcPct val="100000"/>
              </a:lnSpc>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Donation history — list-based tracking</a:t>
            </a:r>
            <a:endParaRPr lang="en-US" sz="1600" dirty="0"/>
          </a:p>
          <a:p>
            <a:pPr marL="342900" indent="-342900">
              <a:lnSpc>
                <a:spcPct val="100000"/>
              </a:lnSpc>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Persistence — CSV/text file storage (no DB)</a:t>
            </a:r>
            <a:endParaRPr lang="en-US" sz="1600" dirty="0"/>
          </a:p>
        </p:txBody>
      </p:sp>
      <p:sp>
        <p:nvSpPr>
          <p:cNvPr id="38" name="Shape 28"/>
          <p:cNvSpPr/>
          <p:nvPr/>
        </p:nvSpPr>
        <p:spPr>
          <a:xfrm>
            <a:off x="4188385" y="3862342"/>
            <a:ext cx="3942384" cy="2708910"/>
          </a:xfrm>
          <a:prstGeom prst="roundRect">
            <a:avLst>
              <a:gd name="adj" fmla="val 4706"/>
            </a:avLst>
          </a:prstGeom>
          <a:solidFill>
            <a:srgbClr val="FFFFFF"/>
          </a:solidFill>
          <a:ln/>
          <a:effectLst>
            <a:outerShdw blurRad="101600" dist="25400" dir="5400000" algn="bl" rotWithShape="0">
              <a:srgbClr val="000000">
                <a:alpha val="12000"/>
              </a:srgbClr>
            </a:outerShdw>
          </a:effectLst>
        </p:spPr>
      </p:sp>
      <p:pic>
        <p:nvPicPr>
          <p:cNvPr id="39" name="Image 8" descr="preencoded.png"/>
          <p:cNvPicPr>
            <a:picLocks noChangeAspect="1"/>
          </p:cNvPicPr>
          <p:nvPr/>
        </p:nvPicPr>
        <p:blipFill>
          <a:blip r:embed="rId11"/>
          <a:stretch>
            <a:fillRect/>
          </a:stretch>
        </p:blipFill>
        <p:spPr>
          <a:xfrm>
            <a:off x="4859071" y="3906516"/>
            <a:ext cx="292608" cy="292608"/>
          </a:xfrm>
          <a:prstGeom prst="rect">
            <a:avLst/>
          </a:prstGeom>
        </p:spPr>
      </p:pic>
      <p:sp>
        <p:nvSpPr>
          <p:cNvPr id="40" name="Text 29"/>
          <p:cNvSpPr/>
          <p:nvPr/>
        </p:nvSpPr>
        <p:spPr>
          <a:xfrm>
            <a:off x="5217573" y="3897984"/>
            <a:ext cx="2514600" cy="365760"/>
          </a:xfrm>
          <a:prstGeom prst="rect">
            <a:avLst/>
          </a:prstGeom>
          <a:noFill/>
          <a:ln/>
        </p:spPr>
        <p:txBody>
          <a:bodyPr wrap="square" lIns="0" tIns="0" rIns="0" bIns="0" rtlCol="0" anchor="ctr"/>
          <a:lstStyle/>
          <a:p>
            <a:pPr marL="0" indent="0">
              <a:buNone/>
            </a:pPr>
            <a:r>
              <a:rPr lang="en-US" b="1" dirty="0">
                <a:solidFill>
                  <a:schemeClr val="accent2">
                    <a:lumMod val="75000"/>
                  </a:schemeClr>
                </a:solidFill>
                <a:latin typeface="Calibri" pitchFamily="34" charset="0"/>
                <a:ea typeface="Calibri" pitchFamily="34" charset="-122"/>
                <a:cs typeface="Calibri" pitchFamily="34" charset="-120"/>
              </a:rPr>
              <a:t>CORE TECHNOLOGY STACK</a:t>
            </a:r>
            <a:endParaRPr lang="en-US" dirty="0">
              <a:solidFill>
                <a:schemeClr val="accent2">
                  <a:lumMod val="75000"/>
                </a:schemeClr>
              </a:solidFill>
            </a:endParaRPr>
          </a:p>
        </p:txBody>
      </p:sp>
      <p:sp>
        <p:nvSpPr>
          <p:cNvPr id="41" name="Text 30"/>
          <p:cNvSpPr/>
          <p:nvPr/>
        </p:nvSpPr>
        <p:spPr>
          <a:xfrm>
            <a:off x="4418886" y="4163030"/>
            <a:ext cx="3734793" cy="2532116"/>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Python (OOP) — modular Donor/</a:t>
            </a:r>
            <a:r>
              <a:rPr lang="en-US" sz="1600" dirty="0" err="1">
                <a:solidFill>
                  <a:srgbClr val="2B2B2B"/>
                </a:solidFill>
                <a:latin typeface="Calibri" pitchFamily="34" charset="0"/>
                <a:ea typeface="Calibri" pitchFamily="34" charset="-122"/>
                <a:cs typeface="Calibri" pitchFamily="34" charset="-120"/>
              </a:rPr>
              <a:t>BloodBank</a:t>
            </a:r>
            <a:r>
              <a:rPr lang="en-US" sz="1600" dirty="0">
                <a:solidFill>
                  <a:srgbClr val="2B2B2B"/>
                </a:solidFill>
                <a:latin typeface="Calibri" pitchFamily="34" charset="0"/>
                <a:ea typeface="Calibri" pitchFamily="34" charset="-122"/>
                <a:cs typeface="Calibri" pitchFamily="34" charset="-120"/>
              </a:rPr>
              <a:t> </a:t>
            </a:r>
            <a:r>
              <a:rPr lang="en-US" sz="1600" dirty="0" smtClean="0">
                <a:solidFill>
                  <a:srgbClr val="2B2B2B"/>
                </a:solidFill>
                <a:latin typeface="Calibri" pitchFamily="34" charset="0"/>
                <a:ea typeface="Calibri" pitchFamily="34" charset="-122"/>
                <a:cs typeface="Calibri" pitchFamily="34" charset="-120"/>
              </a:rPr>
              <a:t>classes</a:t>
            </a:r>
            <a:endParaRPr lang="en-US" sz="1600" dirty="0" smtClean="0"/>
          </a:p>
          <a:p>
            <a:pPr marL="342900" indent="-342900">
              <a:lnSpc>
                <a:spcPct val="100000"/>
              </a:lnSpc>
              <a:spcAft>
                <a:spcPts val="800"/>
              </a:spcAft>
              <a:buSzPct val="100000"/>
              <a:buChar char="•"/>
            </a:pPr>
            <a:r>
              <a:rPr lang="en-US" sz="1600" dirty="0" smtClean="0">
                <a:solidFill>
                  <a:srgbClr val="2B2B2B"/>
                </a:solidFill>
                <a:latin typeface="Calibri" pitchFamily="34" charset="0"/>
                <a:ea typeface="Calibri" pitchFamily="34" charset="-122"/>
                <a:cs typeface="Calibri" pitchFamily="34" charset="-120"/>
              </a:rPr>
              <a:t>Queue </a:t>
            </a:r>
            <a:r>
              <a:rPr lang="en-US" sz="1600" dirty="0">
                <a:solidFill>
                  <a:srgbClr val="2B2B2B"/>
                </a:solidFill>
                <a:latin typeface="Calibri" pitchFamily="34" charset="0"/>
                <a:ea typeface="Calibri" pitchFamily="34" charset="-122"/>
                <a:cs typeface="Calibri" pitchFamily="34" charset="-120"/>
              </a:rPr>
              <a:t>(FIFO) — fair request </a:t>
            </a:r>
            <a:r>
              <a:rPr lang="en-US" sz="1600" dirty="0" smtClean="0">
                <a:solidFill>
                  <a:srgbClr val="2B2B2B"/>
                </a:solidFill>
                <a:latin typeface="Calibri" pitchFamily="34" charset="0"/>
                <a:ea typeface="Calibri" pitchFamily="34" charset="-122"/>
                <a:cs typeface="Calibri" pitchFamily="34" charset="-120"/>
              </a:rPr>
              <a:t>handling</a:t>
            </a:r>
          </a:p>
          <a:p>
            <a:pPr marL="342900" indent="-342900">
              <a:lnSpc>
                <a:spcPct val="100000"/>
              </a:lnSpc>
              <a:spcAft>
                <a:spcPts val="800"/>
              </a:spcAft>
              <a:buSzPct val="100000"/>
              <a:buChar char="•"/>
            </a:pPr>
            <a:r>
              <a:rPr lang="en-US" sz="1600" dirty="0" smtClean="0">
                <a:solidFill>
                  <a:srgbClr val="2B2B2B"/>
                </a:solidFill>
                <a:latin typeface="Calibri" pitchFamily="34" charset="0"/>
                <a:cs typeface="Calibri" pitchFamily="34" charset="-120"/>
              </a:rPr>
              <a:t> Priority Queue – to handle </a:t>
            </a:r>
            <a:r>
              <a:rPr lang="en-US" sz="1600" dirty="0" err="1" smtClean="0">
                <a:solidFill>
                  <a:srgbClr val="2B2B2B"/>
                </a:solidFill>
                <a:latin typeface="Calibri" pitchFamily="34" charset="0"/>
                <a:cs typeface="Calibri" pitchFamily="34" charset="-120"/>
              </a:rPr>
              <a:t>emeergency</a:t>
            </a:r>
            <a:endParaRPr lang="en-US" sz="1600" dirty="0"/>
          </a:p>
          <a:p>
            <a:pPr marL="342900" indent="-342900">
              <a:lnSpc>
                <a:spcPct val="100000"/>
              </a:lnSpc>
              <a:spcAft>
                <a:spcPts val="800"/>
              </a:spcAft>
              <a:buSzPct val="100000"/>
              <a:buChar char="•"/>
            </a:pPr>
            <a:r>
              <a:rPr lang="en-US" sz="1600" dirty="0" smtClean="0">
                <a:solidFill>
                  <a:srgbClr val="2B2B2B"/>
                </a:solidFill>
                <a:latin typeface="Calibri" pitchFamily="34" charset="0"/>
                <a:ea typeface="Calibri" pitchFamily="34" charset="-122"/>
                <a:cs typeface="Calibri" pitchFamily="34" charset="-120"/>
              </a:rPr>
              <a:t>File </a:t>
            </a:r>
            <a:r>
              <a:rPr lang="en-US" sz="1600" dirty="0">
                <a:solidFill>
                  <a:srgbClr val="2B2B2B"/>
                </a:solidFill>
                <a:latin typeface="Calibri" pitchFamily="34" charset="0"/>
                <a:ea typeface="Calibri" pitchFamily="34" charset="-122"/>
                <a:cs typeface="Calibri" pitchFamily="34" charset="-120"/>
              </a:rPr>
              <a:t>Handling — CSV/text persistence</a:t>
            </a:r>
            <a:endParaRPr lang="en-US" sz="1600" dirty="0"/>
          </a:p>
          <a:p>
            <a:pPr marL="342900" indent="-342900">
              <a:lnSpc>
                <a:spcPct val="100000"/>
              </a:lnSpc>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Lists, Dicts, Sets — fast lookups, no duplicates</a:t>
            </a:r>
            <a:endParaRPr lang="en-US" sz="1600" dirty="0"/>
          </a:p>
          <a:p>
            <a:pPr marL="342900" indent="-342900">
              <a:lnSpc>
                <a:spcPct val="100000"/>
              </a:lnSpc>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Recursion — efficient eligibility search</a:t>
            </a:r>
            <a:endParaRPr lang="en-US" sz="1600" dirty="0"/>
          </a:p>
        </p:txBody>
      </p:sp>
      <p:sp>
        <p:nvSpPr>
          <p:cNvPr id="42" name="Shape 31"/>
          <p:cNvSpPr/>
          <p:nvPr/>
        </p:nvSpPr>
        <p:spPr>
          <a:xfrm>
            <a:off x="8388654" y="1083467"/>
            <a:ext cx="3246120" cy="4991916"/>
          </a:xfrm>
          <a:prstGeom prst="roundRect">
            <a:avLst>
              <a:gd name="adj" fmla="val 3380"/>
            </a:avLst>
          </a:prstGeom>
          <a:solidFill>
            <a:srgbClr val="2F3C7E"/>
          </a:solidFill>
          <a:ln/>
          <a:effectLst>
            <a:outerShdw blurRad="101600" dist="25400" dir="5400000" algn="bl" rotWithShape="0">
              <a:srgbClr val="000000">
                <a:alpha val="15000"/>
              </a:srgbClr>
            </a:outerShdw>
          </a:effectLst>
        </p:spPr>
        <p:txBody>
          <a:bodyPr/>
          <a:lstStyle/>
          <a:p>
            <a:endParaRPr lang="en-US" dirty="0"/>
          </a:p>
        </p:txBody>
      </p:sp>
      <p:sp>
        <p:nvSpPr>
          <p:cNvPr id="43" name="Text 32"/>
          <p:cNvSpPr/>
          <p:nvPr/>
        </p:nvSpPr>
        <p:spPr>
          <a:xfrm>
            <a:off x="8640243" y="1248156"/>
            <a:ext cx="2697480" cy="365760"/>
          </a:xfrm>
          <a:prstGeom prst="rect">
            <a:avLst/>
          </a:prstGeom>
          <a:noFill/>
          <a:ln/>
        </p:spPr>
        <p:txBody>
          <a:bodyPr wrap="square" lIns="0" tIns="0" rIns="0" bIns="0" rtlCol="0" anchor="ctr"/>
          <a:lstStyle/>
          <a:p>
            <a:pPr marL="0" indent="0">
              <a:buNone/>
            </a:pPr>
            <a:r>
              <a:rPr lang="en-US" b="1" dirty="0">
                <a:solidFill>
                  <a:srgbClr val="F9E795"/>
                </a:solidFill>
                <a:latin typeface="Calibri" pitchFamily="34" charset="0"/>
                <a:ea typeface="Calibri" pitchFamily="34" charset="-122"/>
                <a:cs typeface="Calibri" pitchFamily="34" charset="-120"/>
              </a:rPr>
              <a:t>WHY IT'S INNOVATIVE</a:t>
            </a:r>
            <a:endParaRPr lang="en-US" dirty="0"/>
          </a:p>
        </p:txBody>
      </p:sp>
      <p:sp>
        <p:nvSpPr>
          <p:cNvPr id="44" name="Shape 33"/>
          <p:cNvSpPr/>
          <p:nvPr/>
        </p:nvSpPr>
        <p:spPr>
          <a:xfrm>
            <a:off x="8641080" y="1719072"/>
            <a:ext cx="457200" cy="457200"/>
          </a:xfrm>
          <a:prstGeom prst="ellipse">
            <a:avLst/>
          </a:prstGeom>
          <a:solidFill>
            <a:srgbClr val="3E4E96"/>
          </a:solidFill>
          <a:ln/>
        </p:spPr>
      </p:sp>
      <p:pic>
        <p:nvPicPr>
          <p:cNvPr id="45" name="Image 9" descr="preencoded.png"/>
          <p:cNvPicPr>
            <a:picLocks noChangeAspect="1"/>
          </p:cNvPicPr>
          <p:nvPr/>
        </p:nvPicPr>
        <p:blipFill>
          <a:blip r:embed="rId12"/>
          <a:stretch>
            <a:fillRect/>
          </a:stretch>
        </p:blipFill>
        <p:spPr>
          <a:xfrm>
            <a:off x="8750808" y="1801368"/>
            <a:ext cx="237744" cy="237744"/>
          </a:xfrm>
          <a:prstGeom prst="rect">
            <a:avLst/>
          </a:prstGeom>
        </p:spPr>
      </p:pic>
      <p:sp>
        <p:nvSpPr>
          <p:cNvPr id="46" name="Text 34"/>
          <p:cNvSpPr/>
          <p:nvPr/>
        </p:nvSpPr>
        <p:spPr>
          <a:xfrm>
            <a:off x="9191650" y="1751076"/>
            <a:ext cx="21031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Rule-Based Automation</a:t>
            </a:r>
            <a:endParaRPr lang="en-US" sz="1600" dirty="0"/>
          </a:p>
        </p:txBody>
      </p:sp>
      <p:sp>
        <p:nvSpPr>
          <p:cNvPr id="47" name="Text 35"/>
          <p:cNvSpPr/>
          <p:nvPr/>
        </p:nvSpPr>
        <p:spPr>
          <a:xfrm>
            <a:off x="8833105" y="2221992"/>
            <a:ext cx="2697480" cy="960120"/>
          </a:xfrm>
          <a:prstGeom prst="rect">
            <a:avLst/>
          </a:prstGeom>
          <a:noFill/>
          <a:ln/>
        </p:spPr>
        <p:txBody>
          <a:bodyPr wrap="square" lIns="0" tIns="0" rIns="0" bIns="0" rtlCol="0" anchor="t"/>
          <a:lstStyle/>
          <a:p>
            <a:pPr marL="0" indent="0">
              <a:lnSpc>
                <a:spcPct val="108000"/>
              </a:lnSpc>
              <a:buNone/>
            </a:pPr>
            <a:r>
              <a:rPr lang="en-US" sz="1200" dirty="0">
                <a:solidFill>
                  <a:srgbClr val="E4E9F7"/>
                </a:solidFill>
                <a:latin typeface="Calibri" pitchFamily="34" charset="0"/>
                <a:ea typeface="Calibri" pitchFamily="34" charset="-122"/>
                <a:cs typeface="Calibri" pitchFamily="34" charset="-120"/>
              </a:rPr>
              <a:t>Eligibility checks run entirely on recursive logic — no manual overrides, reducing human error in donor screening.</a:t>
            </a:r>
            <a:endParaRPr lang="en-US" sz="1200" dirty="0"/>
          </a:p>
        </p:txBody>
      </p:sp>
      <p:sp>
        <p:nvSpPr>
          <p:cNvPr id="48" name="Shape 36"/>
          <p:cNvSpPr/>
          <p:nvPr/>
        </p:nvSpPr>
        <p:spPr>
          <a:xfrm>
            <a:off x="8604505" y="2916872"/>
            <a:ext cx="457200" cy="457200"/>
          </a:xfrm>
          <a:prstGeom prst="ellipse">
            <a:avLst/>
          </a:prstGeom>
          <a:solidFill>
            <a:srgbClr val="3E4E96"/>
          </a:solidFill>
          <a:ln/>
        </p:spPr>
      </p:sp>
      <p:pic>
        <p:nvPicPr>
          <p:cNvPr id="49" name="Image 10" descr="preencoded.png"/>
          <p:cNvPicPr>
            <a:picLocks noChangeAspect="1"/>
          </p:cNvPicPr>
          <p:nvPr/>
        </p:nvPicPr>
        <p:blipFill>
          <a:blip r:embed="rId13"/>
          <a:stretch>
            <a:fillRect/>
          </a:stretch>
        </p:blipFill>
        <p:spPr>
          <a:xfrm>
            <a:off x="8704958" y="3042409"/>
            <a:ext cx="237744" cy="237744"/>
          </a:xfrm>
          <a:prstGeom prst="rect">
            <a:avLst/>
          </a:prstGeom>
        </p:spPr>
      </p:pic>
      <p:sp>
        <p:nvSpPr>
          <p:cNvPr id="50" name="Text 37"/>
          <p:cNvSpPr/>
          <p:nvPr/>
        </p:nvSpPr>
        <p:spPr>
          <a:xfrm>
            <a:off x="9132504" y="3001261"/>
            <a:ext cx="21031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FIFO Fairness Algorithm</a:t>
            </a:r>
            <a:endParaRPr lang="en-US" sz="1600" dirty="0"/>
          </a:p>
        </p:txBody>
      </p:sp>
      <p:sp>
        <p:nvSpPr>
          <p:cNvPr id="51" name="Text 38"/>
          <p:cNvSpPr/>
          <p:nvPr/>
        </p:nvSpPr>
        <p:spPr>
          <a:xfrm>
            <a:off x="8719994" y="3493008"/>
            <a:ext cx="2697480" cy="960120"/>
          </a:xfrm>
          <a:prstGeom prst="rect">
            <a:avLst/>
          </a:prstGeom>
          <a:noFill/>
          <a:ln/>
        </p:spPr>
        <p:txBody>
          <a:bodyPr wrap="square" lIns="0" tIns="0" rIns="0" bIns="0" rtlCol="0" anchor="t"/>
          <a:lstStyle/>
          <a:p>
            <a:pPr marL="0" indent="0">
              <a:lnSpc>
                <a:spcPct val="108000"/>
              </a:lnSpc>
              <a:buNone/>
            </a:pPr>
            <a:r>
              <a:rPr lang="en-US" sz="1200" dirty="0">
                <a:solidFill>
                  <a:srgbClr val="E4E9F7"/>
                </a:solidFill>
                <a:latin typeface="Calibri" pitchFamily="34" charset="0"/>
                <a:ea typeface="Calibri" pitchFamily="34" charset="-122"/>
                <a:cs typeface="Calibri" pitchFamily="34" charset="-120"/>
              </a:rPr>
              <a:t>A deliberate design choice, not just a data structure: guarantees ethical, first-come-first-served allocation of scarce blood units.</a:t>
            </a:r>
            <a:endParaRPr lang="en-US" sz="1200" dirty="0"/>
          </a:p>
        </p:txBody>
      </p:sp>
      <p:sp>
        <p:nvSpPr>
          <p:cNvPr id="52" name="Shape 39"/>
          <p:cNvSpPr/>
          <p:nvPr/>
        </p:nvSpPr>
        <p:spPr>
          <a:xfrm>
            <a:off x="8583448" y="4353961"/>
            <a:ext cx="457200" cy="457200"/>
          </a:xfrm>
          <a:prstGeom prst="ellipse">
            <a:avLst/>
          </a:prstGeom>
          <a:solidFill>
            <a:srgbClr val="3E4E96"/>
          </a:solidFill>
          <a:ln/>
        </p:spPr>
      </p:sp>
      <p:pic>
        <p:nvPicPr>
          <p:cNvPr id="53" name="Image 11" descr="preencoded.png"/>
          <p:cNvPicPr>
            <a:picLocks noChangeAspect="1"/>
          </p:cNvPicPr>
          <p:nvPr/>
        </p:nvPicPr>
        <p:blipFill>
          <a:blip r:embed="rId14"/>
          <a:stretch>
            <a:fillRect/>
          </a:stretch>
        </p:blipFill>
        <p:spPr>
          <a:xfrm>
            <a:off x="8714233" y="4437383"/>
            <a:ext cx="237744" cy="237744"/>
          </a:xfrm>
          <a:prstGeom prst="rect">
            <a:avLst/>
          </a:prstGeom>
        </p:spPr>
      </p:pic>
      <p:sp>
        <p:nvSpPr>
          <p:cNvPr id="54" name="Text 40"/>
          <p:cNvSpPr/>
          <p:nvPr/>
        </p:nvSpPr>
        <p:spPr>
          <a:xfrm>
            <a:off x="9148735" y="4454191"/>
            <a:ext cx="2103120" cy="320040"/>
          </a:xfrm>
          <a:prstGeom prst="rect">
            <a:avLst/>
          </a:prstGeom>
          <a:noFill/>
          <a:ln/>
        </p:spPr>
        <p:txBody>
          <a:bodyPr wrap="square" lIns="0" tIns="0" rIns="0" bIns="0" rtlCol="0" anchor="ctr"/>
          <a:lstStyle/>
          <a:p>
            <a:pPr marL="0" indent="0">
              <a:buNone/>
            </a:pPr>
            <a:r>
              <a:rPr lang="en-US" sz="1600" b="1" dirty="0" smtClean="0">
                <a:solidFill>
                  <a:srgbClr val="FFFFFF"/>
                </a:solidFill>
                <a:latin typeface="Calibri" pitchFamily="34" charset="0"/>
                <a:ea typeface="Calibri" pitchFamily="34" charset="-122"/>
                <a:cs typeface="Calibri" pitchFamily="34" charset="-120"/>
              </a:rPr>
              <a:t>Zero-Dependency Architecture</a:t>
            </a:r>
            <a:endParaRPr lang="en-US" sz="1600" dirty="0"/>
          </a:p>
        </p:txBody>
      </p:sp>
      <p:sp>
        <p:nvSpPr>
          <p:cNvPr id="55" name="Text 41"/>
          <p:cNvSpPr/>
          <p:nvPr/>
        </p:nvSpPr>
        <p:spPr>
          <a:xfrm>
            <a:off x="8647874" y="4996070"/>
            <a:ext cx="2697480" cy="960120"/>
          </a:xfrm>
          <a:prstGeom prst="rect">
            <a:avLst/>
          </a:prstGeom>
          <a:noFill/>
          <a:ln/>
        </p:spPr>
        <p:txBody>
          <a:bodyPr wrap="square" lIns="0" tIns="0" rIns="0" bIns="0" rtlCol="0" anchor="t"/>
          <a:lstStyle/>
          <a:p>
            <a:pPr marL="0" indent="0">
              <a:lnSpc>
                <a:spcPct val="108000"/>
              </a:lnSpc>
              <a:buNone/>
            </a:pPr>
            <a:r>
              <a:rPr lang="en-US" sz="1200" dirty="0">
                <a:solidFill>
                  <a:srgbClr val="E4E9F7"/>
                </a:solidFill>
                <a:latin typeface="Calibri" pitchFamily="34" charset="0"/>
                <a:ea typeface="Calibri" pitchFamily="34" charset="-122"/>
                <a:cs typeface="Calibri" pitchFamily="34" charset="-120"/>
              </a:rPr>
              <a:t>No external database required — CSV/file-based storage keeps the system portable and deployable in low-resource clinics.</a:t>
            </a:r>
            <a:endParaRPr lang="en-US" sz="1200" dirty="0"/>
          </a:p>
        </p:txBody>
      </p:sp>
    </p:spTree>
    <p:extLst>
      <p:ext uri="{BB962C8B-B14F-4D97-AF65-F5344CB8AC3E}">
        <p14:creationId xmlns:p14="http://schemas.microsoft.com/office/powerpoint/2010/main" val="36765445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AD1F5-CD05-D253-D1BB-33BB85698E33}"/>
              </a:ext>
            </a:extLst>
          </p:cNvPr>
          <p:cNvSpPr>
            <a:spLocks noGrp="1"/>
          </p:cNvSpPr>
          <p:nvPr>
            <p:ph type="title"/>
          </p:nvPr>
        </p:nvSpPr>
        <p:spPr>
          <a:xfrm>
            <a:off x="2794242" y="254521"/>
            <a:ext cx="5742904" cy="1325563"/>
          </a:xfrm>
        </p:spPr>
        <p:txBody>
          <a:bodyPr>
            <a:normAutofit/>
          </a:bodyPr>
          <a:lstStyle/>
          <a:p>
            <a:r>
              <a:rPr lang="en-US" sz="3600" b="1" dirty="0">
                <a:latin typeface="Calibri" panose="020F0502020204030204" pitchFamily="34" charset="0"/>
              </a:rPr>
              <a:t>FEATURES &amp; FUTURE SCOPE </a:t>
            </a:r>
          </a:p>
        </p:txBody>
      </p:sp>
      <p:sp>
        <p:nvSpPr>
          <p:cNvPr id="3" name="Content Placeholder 2">
            <a:extLst>
              <a:ext uri="{FF2B5EF4-FFF2-40B4-BE49-F238E27FC236}">
                <a16:creationId xmlns:a16="http://schemas.microsoft.com/office/drawing/2014/main" id="{6F776088-6533-D5B8-3FF3-6B9A476A8DB0}"/>
              </a:ext>
            </a:extLst>
          </p:cNvPr>
          <p:cNvSpPr>
            <a:spLocks noGrp="1"/>
          </p:cNvSpPr>
          <p:nvPr>
            <p:ph idx="1"/>
          </p:nvPr>
        </p:nvSpPr>
        <p:spPr>
          <a:xfrm>
            <a:off x="658906" y="2167294"/>
            <a:ext cx="5006788" cy="3631735"/>
          </a:xfrm>
        </p:spPr>
        <p:txBody>
          <a:bodyPr>
            <a:normAutofit/>
          </a:bodyPr>
          <a:lstStyle/>
          <a:p>
            <a:pPr marL="0" indent="0">
              <a:buNone/>
            </a:pPr>
            <a:r>
              <a:rPr lang="en-US" b="1" dirty="0">
                <a:solidFill>
                  <a:schemeClr val="accent2">
                    <a:lumMod val="75000"/>
                  </a:schemeClr>
                </a:solidFill>
                <a:latin typeface="Calibri" panose="020F0502020204030204" pitchFamily="34" charset="0"/>
              </a:rPr>
              <a:t>FEATURES:</a:t>
            </a:r>
          </a:p>
          <a:p>
            <a:r>
              <a:rPr lang="en-US" sz="2000" dirty="0">
                <a:latin typeface="Calibri" panose="020F0502020204030204" pitchFamily="34" charset="0"/>
              </a:rPr>
              <a:t>Donor registration &amp; recursive search
90-day eligibility check
Blood inventory tracking
Donation history &amp; request management
Admin login with alerts for low stock</a:t>
            </a:r>
            <a:endParaRPr lang="en-US" sz="2000" b="1" dirty="0">
              <a:latin typeface="Calibri" panose="020F0502020204030204" pitchFamily="34" charset="0"/>
            </a:endParaRPr>
          </a:p>
        </p:txBody>
      </p:sp>
      <p:sp>
        <p:nvSpPr>
          <p:cNvPr id="4" name="TextBox 3">
            <a:extLst>
              <a:ext uri="{FF2B5EF4-FFF2-40B4-BE49-F238E27FC236}">
                <a16:creationId xmlns:a16="http://schemas.microsoft.com/office/drawing/2014/main" id="{20CCD0D5-C531-EF92-CC7A-BBFB7CF28A06}"/>
              </a:ext>
            </a:extLst>
          </p:cNvPr>
          <p:cNvSpPr txBox="1"/>
          <p:nvPr/>
        </p:nvSpPr>
        <p:spPr>
          <a:xfrm>
            <a:off x="6132963" y="2167294"/>
            <a:ext cx="4808366" cy="2677656"/>
          </a:xfrm>
          <a:prstGeom prst="rect">
            <a:avLst/>
          </a:prstGeom>
          <a:noFill/>
        </p:spPr>
        <p:txBody>
          <a:bodyPr wrap="square" rtlCol="0">
            <a:spAutoFit/>
          </a:bodyPr>
          <a:lstStyle/>
          <a:p>
            <a:pPr algn="l"/>
            <a:r>
              <a:rPr lang="en-US" sz="2800" b="1" dirty="0">
                <a:solidFill>
                  <a:schemeClr val="accent2">
                    <a:lumMod val="75000"/>
                  </a:schemeClr>
                </a:solidFill>
                <a:latin typeface="Calibri" panose="020F0502020204030204" pitchFamily="34" charset="0"/>
              </a:rPr>
              <a:t>FUTURE </a:t>
            </a:r>
            <a:r>
              <a:rPr lang="en-US" sz="2800" b="1" dirty="0" smtClean="0">
                <a:solidFill>
                  <a:schemeClr val="accent2">
                    <a:lumMod val="75000"/>
                  </a:schemeClr>
                </a:solidFill>
                <a:latin typeface="Calibri" panose="020F0502020204030204" pitchFamily="34" charset="0"/>
              </a:rPr>
              <a:t>SCOPE:</a:t>
            </a:r>
            <a:endParaRPr lang="en-US" sz="2800" b="1" dirty="0">
              <a:solidFill>
                <a:schemeClr val="accent2">
                  <a:lumMod val="75000"/>
                </a:schemeClr>
              </a:solidFill>
              <a:latin typeface="Calibri" panose="020F0502020204030204" pitchFamily="34" charset="0"/>
            </a:endParaRPr>
          </a:p>
          <a:p>
            <a:pPr marL="342900" indent="-342900" algn="l">
              <a:buFont typeface="Arial" panose="020B0604020202020204" pitchFamily="34" charset="0"/>
              <a:buChar char="•"/>
            </a:pPr>
            <a:r>
              <a:rPr lang="en-US" sz="2000" dirty="0">
                <a:latin typeface="Calibri" panose="020F0502020204030204" pitchFamily="34" charset="0"/>
              </a:rPr>
              <a:t>Mobile/web app with database </a:t>
            </a:r>
            <a:r>
              <a:rPr lang="en-US" sz="2000" dirty="0" smtClean="0">
                <a:latin typeface="Calibri" panose="020F0502020204030204" pitchFamily="34" charset="0"/>
              </a:rPr>
              <a:t>integration</a:t>
            </a:r>
            <a:r>
              <a:rPr lang="en-US" sz="2000" dirty="0">
                <a:latin typeface="Calibri" panose="020F0502020204030204" pitchFamily="34" charset="0"/>
              </a:rPr>
              <a:t>
Automated donor notifications
Analytics dashboard &amp; hospital API integration
Role-based access &amp; donor rewards system</a:t>
            </a:r>
          </a:p>
        </p:txBody>
      </p:sp>
    </p:spTree>
    <p:extLst>
      <p:ext uri="{BB962C8B-B14F-4D97-AF65-F5344CB8AC3E}">
        <p14:creationId xmlns:p14="http://schemas.microsoft.com/office/powerpoint/2010/main" val="32280137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2460" y="0"/>
            <a:ext cx="10515600" cy="1325563"/>
          </a:xfrm>
        </p:spPr>
        <p:txBody>
          <a:bodyPr/>
          <a:lstStyle/>
          <a:p>
            <a:r>
              <a:rPr lang="en-US" b="1" dirty="0" smtClean="0">
                <a:latin typeface="Calibri" panose="020F0502020204030204" pitchFamily="34" charset="0"/>
                <a:cs typeface="Calibri" panose="020F0502020204030204" pitchFamily="34" charset="0"/>
              </a:rPr>
              <a:t>SAMPLE OUTPUT</a:t>
            </a:r>
            <a:endParaRPr lang="en-US" b="1" dirty="0">
              <a:latin typeface="Calibri" panose="020F0502020204030204" pitchFamily="34" charset="0"/>
              <a:cs typeface="Calibri" panose="020F050202020403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702" y="1136899"/>
            <a:ext cx="5021559" cy="4832462"/>
          </a:xfr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6874" y="2424209"/>
            <a:ext cx="2528552" cy="138380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04824" y="4147158"/>
            <a:ext cx="3597498" cy="1584102"/>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11039" y="1905673"/>
            <a:ext cx="3597498" cy="1661375"/>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55885" y="3999051"/>
            <a:ext cx="2514600" cy="1524000"/>
          </a:xfrm>
          <a:prstGeom prst="rect">
            <a:avLst/>
          </a:prstGeom>
        </p:spPr>
      </p:pic>
    </p:spTree>
    <p:extLst>
      <p:ext uri="{BB962C8B-B14F-4D97-AF65-F5344CB8AC3E}">
        <p14:creationId xmlns:p14="http://schemas.microsoft.com/office/powerpoint/2010/main" val="22882881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36446-1B3C-D5C8-A9EB-C77940DCBC5F}"/>
              </a:ext>
            </a:extLst>
          </p:cNvPr>
          <p:cNvSpPr>
            <a:spLocks noGrp="1"/>
          </p:cNvSpPr>
          <p:nvPr>
            <p:ph type="title"/>
          </p:nvPr>
        </p:nvSpPr>
        <p:spPr>
          <a:xfrm>
            <a:off x="838200" y="320768"/>
            <a:ext cx="10515600" cy="1325563"/>
          </a:xfrm>
        </p:spPr>
        <p:txBody>
          <a:bodyPr/>
          <a:lstStyle/>
          <a:p>
            <a:r>
              <a:rPr lang="en-US" sz="3200" b="1" dirty="0">
                <a:latin typeface="Calibri" panose="020F0502020204030204" pitchFamily="34" charset="0"/>
              </a:rPr>
              <a:t>CONCLUSION</a:t>
            </a:r>
            <a:r>
              <a:rPr lang="en-US" dirty="0"/>
              <a:t> </a:t>
            </a:r>
          </a:p>
        </p:txBody>
      </p:sp>
      <p:sp>
        <p:nvSpPr>
          <p:cNvPr id="3" name="Content Placeholder 2">
            <a:extLst>
              <a:ext uri="{FF2B5EF4-FFF2-40B4-BE49-F238E27FC236}">
                <a16:creationId xmlns:a16="http://schemas.microsoft.com/office/drawing/2014/main" id="{EA832FD2-DF95-54B9-52C3-2DA5A38AD2D3}"/>
              </a:ext>
            </a:extLst>
          </p:cNvPr>
          <p:cNvSpPr>
            <a:spLocks noGrp="1"/>
          </p:cNvSpPr>
          <p:nvPr>
            <p:ph idx="1"/>
          </p:nvPr>
        </p:nvSpPr>
        <p:spPr>
          <a:xfrm>
            <a:off x="838200" y="1825625"/>
            <a:ext cx="10295965" cy="2208493"/>
          </a:xfrm>
        </p:spPr>
        <p:txBody>
          <a:bodyPr>
            <a:normAutofit/>
          </a:bodyPr>
          <a:lstStyle/>
          <a:p>
            <a:r>
              <a:rPr lang="en-US" sz="2000" dirty="0">
                <a:latin typeface="Calibri" panose="020F0502020204030204" pitchFamily="34" charset="0"/>
              </a:rPr>
              <a:t>The Blood Bank Management System simplifies blood donation and blood inventory management.
It improves accuracy, saves time, and reduces manual errors.
It helps hospitals and patients get blood quickly during emergencies.
Overall, it makes blood bank operations more efficient, safe, and reliable.</a:t>
            </a:r>
          </a:p>
        </p:txBody>
      </p:sp>
      <p:sp>
        <p:nvSpPr>
          <p:cNvPr id="4" name="TextBox 3">
            <a:extLst>
              <a:ext uri="{FF2B5EF4-FFF2-40B4-BE49-F238E27FC236}">
                <a16:creationId xmlns:a16="http://schemas.microsoft.com/office/drawing/2014/main" id="{AC046023-CF67-4DC1-66CB-D8C99C0DB6AF}"/>
              </a:ext>
            </a:extLst>
          </p:cNvPr>
          <p:cNvSpPr txBox="1"/>
          <p:nvPr/>
        </p:nvSpPr>
        <p:spPr>
          <a:xfrm>
            <a:off x="3597499" y="4213412"/>
            <a:ext cx="4013916" cy="1692771"/>
          </a:xfrm>
          <a:prstGeom prst="rect">
            <a:avLst/>
          </a:prstGeom>
          <a:noFill/>
        </p:spPr>
        <p:txBody>
          <a:bodyPr wrap="square" rtlCol="0">
            <a:spAutoFit/>
          </a:bodyPr>
          <a:lstStyle/>
          <a:p>
            <a:pPr algn="l"/>
            <a:r>
              <a:rPr lang="en-US" sz="2400" b="1" dirty="0">
                <a:solidFill>
                  <a:srgbClr val="FF0000"/>
                </a:solidFill>
              </a:rPr>
              <a:t>                                     </a:t>
            </a:r>
            <a:r>
              <a:rPr lang="en-US" sz="3200" b="1" dirty="0">
                <a:solidFill>
                  <a:srgbClr val="FF0000"/>
                </a:solidFill>
                <a:latin typeface="Calibri" panose="020F0502020204030204" pitchFamily="34" charset="0"/>
              </a:rPr>
              <a:t>THANK YOU</a:t>
            </a:r>
            <a:r>
              <a:rPr lang="en-US" sz="3200" b="1" dirty="0">
                <a:solidFill>
                  <a:srgbClr val="FF0000"/>
                </a:solidFill>
              </a:rPr>
              <a:t> !</a:t>
            </a:r>
          </a:p>
          <a:p>
            <a:pPr algn="l"/>
            <a:endParaRPr lang="en-US" sz="2400" b="1" dirty="0">
              <a:solidFill>
                <a:srgbClr val="FF0000"/>
              </a:solidFill>
            </a:endParaRPr>
          </a:p>
          <a:p>
            <a:pPr algn="l"/>
            <a:r>
              <a:rPr lang="en-US" sz="2400" dirty="0"/>
              <a:t> </a:t>
            </a:r>
            <a:r>
              <a:rPr lang="en-US" sz="2400" b="1" dirty="0"/>
              <a:t>           </a:t>
            </a:r>
            <a:endParaRPr lang="en-US" sz="2400" b="1" dirty="0">
              <a:latin typeface="Calibri" panose="020F0502020204030204" pitchFamily="34" charset="0"/>
            </a:endParaRPr>
          </a:p>
        </p:txBody>
      </p:sp>
    </p:spTree>
    <p:extLst>
      <p:ext uri="{BB962C8B-B14F-4D97-AF65-F5344CB8AC3E}">
        <p14:creationId xmlns:p14="http://schemas.microsoft.com/office/powerpoint/2010/main" val="297542041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455</Words>
  <Application>Microsoft Office PowerPoint</Application>
  <PresentationFormat>Widescreen</PresentationFormat>
  <Paragraphs>77</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BLOOD BANK MANAGEMENT SYSTEM </vt:lpstr>
      <vt:lpstr>INTRODUCTION &amp; OBJECTIVE </vt:lpstr>
      <vt:lpstr>                              PROBLEM STATEMENT </vt:lpstr>
      <vt:lpstr>PROPOSED SOLUTION </vt:lpstr>
      <vt:lpstr>                  SYSTEM ARCHITECTURE </vt:lpstr>
      <vt:lpstr>PowerPoint Presentation</vt:lpstr>
      <vt:lpstr>FEATURES &amp; FUTURE SCOPE </vt:lpstr>
      <vt:lpstr>SAMPLE OUTPUT</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 BANK MANAGEMENT SYSTEM </dc:title>
  <dc:creator>Nivetha s</dc:creator>
  <cp:lastModifiedBy>Ramgandhi</cp:lastModifiedBy>
  <cp:revision>25</cp:revision>
  <dcterms:created xsi:type="dcterms:W3CDTF">2026-07-01T14:34:39Z</dcterms:created>
  <dcterms:modified xsi:type="dcterms:W3CDTF">2026-07-03T07:56:03Z</dcterms:modified>
</cp:coreProperties>
</file>